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7" r:id="rId5"/>
  </p:sldIdLst>
  <p:sldSz cx="43891200" cy="32918400"/>
  <p:notesSz cx="7077075" cy="9004300"/>
  <p:defaultTextStyle>
    <a:defPPr>
      <a:defRPr lang="en-US"/>
    </a:defPPr>
    <a:lvl1pPr algn="l" rtl="0" fontAlgn="base">
      <a:spcBef>
        <a:spcPct val="0"/>
      </a:spcBef>
      <a:spcAft>
        <a:spcPct val="0"/>
      </a:spcAft>
      <a:defRPr kern="1200">
        <a:solidFill>
          <a:schemeClr val="tx1"/>
        </a:solidFill>
        <a:latin typeface="Arial" pitchFamily="34" charset="0"/>
        <a:ea typeface="ＭＳ Ｐゴシック" pitchFamily="34" charset="-128"/>
        <a:cs typeface="+mn-cs"/>
      </a:defRPr>
    </a:lvl1pPr>
    <a:lvl2pPr marL="2047505" indent="-1498329" algn="l"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4095010" indent="-2996658" algn="l"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6142514" indent="-4496575" algn="l"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8190019" indent="-5994904" algn="l"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5587" algn="l" defTabSz="914235" rtl="0" eaLnBrk="1" latinLnBrk="0" hangingPunct="1">
      <a:defRPr kern="1200">
        <a:solidFill>
          <a:schemeClr val="tx1"/>
        </a:solidFill>
        <a:latin typeface="Arial" pitchFamily="34" charset="0"/>
        <a:ea typeface="ＭＳ Ｐゴシック" pitchFamily="34" charset="-128"/>
        <a:cs typeface="+mn-cs"/>
      </a:defRPr>
    </a:lvl6pPr>
    <a:lvl7pPr marL="2742705" algn="l" defTabSz="914235" rtl="0" eaLnBrk="1" latinLnBrk="0" hangingPunct="1">
      <a:defRPr kern="1200">
        <a:solidFill>
          <a:schemeClr val="tx1"/>
        </a:solidFill>
        <a:latin typeface="Arial" pitchFamily="34" charset="0"/>
        <a:ea typeface="ＭＳ Ｐゴシック" pitchFamily="34" charset="-128"/>
        <a:cs typeface="+mn-cs"/>
      </a:defRPr>
    </a:lvl7pPr>
    <a:lvl8pPr marL="3199821" algn="l" defTabSz="914235" rtl="0" eaLnBrk="1" latinLnBrk="0" hangingPunct="1">
      <a:defRPr kern="1200">
        <a:solidFill>
          <a:schemeClr val="tx1"/>
        </a:solidFill>
        <a:latin typeface="Arial" pitchFamily="34" charset="0"/>
        <a:ea typeface="ＭＳ Ｐゴシック" pitchFamily="34" charset="-128"/>
        <a:cs typeface="+mn-cs"/>
      </a:defRPr>
    </a:lvl8pPr>
    <a:lvl9pPr marL="3656938" algn="l" defTabSz="914235"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10080" userDrawn="1">
          <p15:clr>
            <a:srgbClr val="A4A3A4"/>
          </p15:clr>
        </p15:guide>
        <p15:guide id="2" pos="19488" userDrawn="1">
          <p15:clr>
            <a:srgbClr val="A4A3A4"/>
          </p15:clr>
        </p15:guide>
        <p15:guide id="3" pos="700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mapathy, Karthikeyan" initials="UK"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699FF"/>
    <a:srgbClr val="99CCFF"/>
    <a:srgbClr val="EAEAEA"/>
    <a:srgbClr val="CCECFF"/>
    <a:srgbClr val="FFFFCC"/>
    <a:srgbClr val="CCFFCC"/>
    <a:srgbClr val="FFCC99"/>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254" y="-624"/>
      </p:cViewPr>
      <p:guideLst>
        <p:guide orient="horz" pos="10080"/>
        <p:guide pos="19488"/>
        <p:guide pos="70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commentAuthors" Target="commen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7050" cy="450850"/>
          </a:xfrm>
          <a:prstGeom prst="rect">
            <a:avLst/>
          </a:prstGeom>
        </p:spPr>
        <p:txBody>
          <a:bodyPr vert="horz" lIns="91440" tIns="45720" rIns="91440" bIns="45720" rtlCol="0"/>
          <a:lstStyle>
            <a:lvl1pPr algn="l">
              <a:defRPr sz="1200">
                <a:latin typeface="Arial" charset="0"/>
                <a:ea typeface="+mn-ea"/>
                <a:cs typeface="Arial" charset="0"/>
              </a:defRPr>
            </a:lvl1pPr>
          </a:lstStyle>
          <a:p>
            <a:pPr>
              <a:defRPr/>
            </a:pPr>
            <a:endParaRPr lang="en-US"/>
          </a:p>
        </p:txBody>
      </p:sp>
      <p:sp>
        <p:nvSpPr>
          <p:cNvPr id="3" name="Date Placeholder 2"/>
          <p:cNvSpPr>
            <a:spLocks noGrp="1"/>
          </p:cNvSpPr>
          <p:nvPr>
            <p:ph type="dt" idx="1"/>
          </p:nvPr>
        </p:nvSpPr>
        <p:spPr>
          <a:xfrm>
            <a:off x="4008438" y="0"/>
            <a:ext cx="3067050" cy="450850"/>
          </a:xfrm>
          <a:prstGeom prst="rect">
            <a:avLst/>
          </a:prstGeom>
        </p:spPr>
        <p:txBody>
          <a:bodyPr vert="horz" wrap="square" lIns="91440" tIns="45720" rIns="91440" bIns="45720" numCol="1" anchor="t" anchorCtr="0" compatLnSpc="1">
            <a:prstTxWarp prst="textNoShape">
              <a:avLst/>
            </a:prstTxWarp>
          </a:bodyPr>
          <a:lstStyle>
            <a:lvl1pPr algn="r">
              <a:defRPr sz="1200">
                <a:cs typeface="Arial" pitchFamily="34" charset="0"/>
              </a:defRPr>
            </a:lvl1pPr>
          </a:lstStyle>
          <a:p>
            <a:fld id="{31A1A58E-851F-48AE-A5E8-1C9B293D9F22}" type="datetime1">
              <a:rPr lang="en-US"/>
              <a:pPr/>
              <a:t>10/1/2024</a:t>
            </a:fld>
            <a:endParaRPr lang="en-US"/>
          </a:p>
        </p:txBody>
      </p:sp>
      <p:sp>
        <p:nvSpPr>
          <p:cNvPr id="4" name="Slide Image Placeholder 3"/>
          <p:cNvSpPr>
            <a:spLocks noGrp="1" noRot="1" noChangeAspect="1"/>
          </p:cNvSpPr>
          <p:nvPr>
            <p:ph type="sldImg" idx="2"/>
          </p:nvPr>
        </p:nvSpPr>
        <p:spPr>
          <a:xfrm>
            <a:off x="1287463" y="674688"/>
            <a:ext cx="4502150" cy="3376612"/>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8025" y="4276725"/>
            <a:ext cx="5661025" cy="405288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551863"/>
            <a:ext cx="3067050" cy="450850"/>
          </a:xfrm>
          <a:prstGeom prst="rect">
            <a:avLst/>
          </a:prstGeom>
        </p:spPr>
        <p:txBody>
          <a:bodyPr vert="horz" lIns="91440" tIns="45720" rIns="91440" bIns="45720" rtlCol="0" anchor="b"/>
          <a:lstStyle>
            <a:lvl1pPr algn="l">
              <a:defRPr sz="1200">
                <a:latin typeface="Arial" charset="0"/>
                <a:ea typeface="+mn-ea"/>
                <a:cs typeface="Arial" charset="0"/>
              </a:defRPr>
            </a:lvl1pPr>
          </a:lstStyle>
          <a:p>
            <a:pPr>
              <a:defRPr/>
            </a:pPr>
            <a:endParaRPr lang="en-US"/>
          </a:p>
        </p:txBody>
      </p:sp>
      <p:sp>
        <p:nvSpPr>
          <p:cNvPr id="7" name="Slide Number Placeholder 6"/>
          <p:cNvSpPr>
            <a:spLocks noGrp="1"/>
          </p:cNvSpPr>
          <p:nvPr>
            <p:ph type="sldNum" sz="quarter" idx="5"/>
          </p:nvPr>
        </p:nvSpPr>
        <p:spPr>
          <a:xfrm>
            <a:off x="4008438" y="8551863"/>
            <a:ext cx="3067050" cy="450850"/>
          </a:xfrm>
          <a:prstGeom prst="rect">
            <a:avLst/>
          </a:prstGeom>
        </p:spPr>
        <p:txBody>
          <a:bodyPr vert="horz" wrap="square" lIns="91440" tIns="45720" rIns="91440" bIns="45720" numCol="1" anchor="b" anchorCtr="0" compatLnSpc="1">
            <a:prstTxWarp prst="textNoShape">
              <a:avLst/>
            </a:prstTxWarp>
          </a:bodyPr>
          <a:lstStyle>
            <a:lvl1pPr algn="r">
              <a:defRPr sz="1200">
                <a:cs typeface="Arial" pitchFamily="34" charset="0"/>
              </a:defRPr>
            </a:lvl1pPr>
          </a:lstStyle>
          <a:p>
            <a:fld id="{E670E751-12A9-48D5-A052-3FF48630C2AB}" type="slidenum">
              <a:rPr lang="en-US"/>
              <a:pPr/>
              <a:t>‹#›</a:t>
            </a:fld>
            <a:endParaRPr lang="en-US"/>
          </a:p>
        </p:txBody>
      </p:sp>
    </p:spTree>
    <p:extLst>
      <p:ext uri="{BB962C8B-B14F-4D97-AF65-F5344CB8AC3E}">
        <p14:creationId xmlns:p14="http://schemas.microsoft.com/office/powerpoint/2010/main" val="2897273185"/>
      </p:ext>
    </p:extLst>
  </p:cSld>
  <p:clrMap bg1="lt1" tx1="dk1" bg2="lt2" tx2="dk2" accent1="accent1" accent2="accent2" accent3="accent3" accent4="accent4" accent5="accent5" accent6="accent6" hlink="hlink" folHlink="folHlink"/>
  <p:notesStyle>
    <a:lvl1pPr algn="l" defTabSz="4095010" rtl="0" eaLnBrk="0" fontAlgn="base" hangingPunct="0">
      <a:spcBef>
        <a:spcPct val="30000"/>
      </a:spcBef>
      <a:spcAft>
        <a:spcPct val="0"/>
      </a:spcAft>
      <a:defRPr sz="5399" kern="1200">
        <a:solidFill>
          <a:schemeClr val="tx1"/>
        </a:solidFill>
        <a:latin typeface="+mn-lt"/>
        <a:ea typeface="ＭＳ Ｐゴシック" charset="-128"/>
        <a:cs typeface="ＭＳ Ｐゴシック" charset="-128"/>
      </a:defRPr>
    </a:lvl1pPr>
    <a:lvl2pPr marL="2047505" algn="l" defTabSz="4095010" rtl="0" eaLnBrk="0" fontAlgn="base" hangingPunct="0">
      <a:spcBef>
        <a:spcPct val="30000"/>
      </a:spcBef>
      <a:spcAft>
        <a:spcPct val="0"/>
      </a:spcAft>
      <a:defRPr sz="5399" kern="1200">
        <a:solidFill>
          <a:schemeClr val="tx1"/>
        </a:solidFill>
        <a:latin typeface="+mn-lt"/>
        <a:ea typeface="ＭＳ Ｐゴシック" charset="-128"/>
        <a:cs typeface="+mn-cs"/>
      </a:defRPr>
    </a:lvl2pPr>
    <a:lvl3pPr marL="4095010" algn="l" defTabSz="4095010" rtl="0" eaLnBrk="0" fontAlgn="base" hangingPunct="0">
      <a:spcBef>
        <a:spcPct val="30000"/>
      </a:spcBef>
      <a:spcAft>
        <a:spcPct val="0"/>
      </a:spcAft>
      <a:defRPr sz="5399" kern="1200">
        <a:solidFill>
          <a:schemeClr val="tx1"/>
        </a:solidFill>
        <a:latin typeface="+mn-lt"/>
        <a:ea typeface="ＭＳ Ｐゴシック" charset="-128"/>
        <a:cs typeface="+mn-cs"/>
      </a:defRPr>
    </a:lvl3pPr>
    <a:lvl4pPr marL="6142514" algn="l" defTabSz="4095010" rtl="0" eaLnBrk="0" fontAlgn="base" hangingPunct="0">
      <a:spcBef>
        <a:spcPct val="30000"/>
      </a:spcBef>
      <a:spcAft>
        <a:spcPct val="0"/>
      </a:spcAft>
      <a:defRPr sz="5399" kern="1200">
        <a:solidFill>
          <a:schemeClr val="tx1"/>
        </a:solidFill>
        <a:latin typeface="+mn-lt"/>
        <a:ea typeface="ＭＳ Ｐゴシック" charset="-128"/>
        <a:cs typeface="+mn-cs"/>
      </a:defRPr>
    </a:lvl4pPr>
    <a:lvl5pPr marL="8190019" algn="l" defTabSz="4095010" rtl="0" eaLnBrk="0" fontAlgn="base" hangingPunct="0">
      <a:spcBef>
        <a:spcPct val="30000"/>
      </a:spcBef>
      <a:spcAft>
        <a:spcPct val="0"/>
      </a:spcAft>
      <a:defRPr sz="5399" kern="1200">
        <a:solidFill>
          <a:schemeClr val="tx1"/>
        </a:solidFill>
        <a:latin typeface="+mn-lt"/>
        <a:ea typeface="ＭＳ Ｐゴシック" charset="-128"/>
        <a:cs typeface="+mn-cs"/>
      </a:defRPr>
    </a:lvl5pPr>
    <a:lvl6pPr marL="10239338" algn="l" defTabSz="4095735" rtl="0" eaLnBrk="1" latinLnBrk="0" hangingPunct="1">
      <a:defRPr sz="5399" kern="1200">
        <a:solidFill>
          <a:schemeClr val="tx1"/>
        </a:solidFill>
        <a:latin typeface="+mn-lt"/>
        <a:ea typeface="+mn-ea"/>
        <a:cs typeface="+mn-cs"/>
      </a:defRPr>
    </a:lvl6pPr>
    <a:lvl7pPr marL="12287206" algn="l" defTabSz="4095735" rtl="0" eaLnBrk="1" latinLnBrk="0" hangingPunct="1">
      <a:defRPr sz="5399" kern="1200">
        <a:solidFill>
          <a:schemeClr val="tx1"/>
        </a:solidFill>
        <a:latin typeface="+mn-lt"/>
        <a:ea typeface="+mn-ea"/>
        <a:cs typeface="+mn-cs"/>
      </a:defRPr>
    </a:lvl7pPr>
    <a:lvl8pPr marL="14335072" algn="l" defTabSz="4095735" rtl="0" eaLnBrk="1" latinLnBrk="0" hangingPunct="1">
      <a:defRPr sz="5399" kern="1200">
        <a:solidFill>
          <a:schemeClr val="tx1"/>
        </a:solidFill>
        <a:latin typeface="+mn-lt"/>
        <a:ea typeface="+mn-ea"/>
        <a:cs typeface="+mn-cs"/>
      </a:defRPr>
    </a:lvl8pPr>
    <a:lvl9pPr marL="16382940" algn="l" defTabSz="4095735" rtl="0" eaLnBrk="1" latinLnBrk="0" hangingPunct="1">
      <a:defRPr sz="539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670E751-12A9-48D5-A052-3FF48630C2AB}" type="slidenum">
              <a:rPr lang="en-US" smtClean="0"/>
              <a:pPr/>
              <a:t>1</a:t>
            </a:fld>
            <a:endParaRPr lang="en-US"/>
          </a:p>
        </p:txBody>
      </p:sp>
    </p:spTree>
    <p:extLst>
      <p:ext uri="{BB962C8B-B14F-4D97-AF65-F5344CB8AC3E}">
        <p14:creationId xmlns:p14="http://schemas.microsoft.com/office/powerpoint/2010/main" val="34959560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6" descr="New Logo Jan 2009uwsph_300dpi.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0357764" y="1096964"/>
            <a:ext cx="10398125"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8254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F8D87F58-2790-42A4-A7E9-9D014AF4DC63}" type="datetime1">
              <a:rPr lang="en-US"/>
              <a:pPr/>
              <a:t>10/1/2024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A5B9F29-728F-4AFB-98AF-051C54067532}" type="slidenum">
              <a:rPr lang="en-US"/>
              <a:pPr/>
              <a:t>‹#›</a:t>
            </a:fld>
            <a:endParaRPr lang="en-US"/>
          </a:p>
        </p:txBody>
      </p:sp>
    </p:spTree>
    <p:extLst>
      <p:ext uri="{BB962C8B-B14F-4D97-AF65-F5344CB8AC3E}">
        <p14:creationId xmlns:p14="http://schemas.microsoft.com/office/powerpoint/2010/main" val="1378252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7"/>
            <a:ext cx="37307520" cy="6537960"/>
          </a:xfrm>
        </p:spPr>
        <p:txBody>
          <a:bodyPr anchor="t"/>
          <a:lstStyle>
            <a:lvl1pPr algn="l">
              <a:defRPr sz="17901" b="1" cap="all"/>
            </a:lvl1pPr>
          </a:lstStyle>
          <a:p>
            <a:r>
              <a:rPr lang="en-US"/>
              <a:t>Click to edit Master title style</a:t>
            </a:r>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9000">
                <a:solidFill>
                  <a:schemeClr val="tx1">
                    <a:tint val="75000"/>
                  </a:schemeClr>
                </a:solidFill>
              </a:defRPr>
            </a:lvl1pPr>
            <a:lvl2pPr marL="2048289" indent="0">
              <a:buNone/>
              <a:defRPr sz="8001">
                <a:solidFill>
                  <a:schemeClr val="tx1">
                    <a:tint val="75000"/>
                  </a:schemeClr>
                </a:solidFill>
              </a:defRPr>
            </a:lvl2pPr>
            <a:lvl3pPr marL="4096578" indent="0">
              <a:buNone/>
              <a:defRPr sz="7200">
                <a:solidFill>
                  <a:schemeClr val="tx1">
                    <a:tint val="75000"/>
                  </a:schemeClr>
                </a:solidFill>
              </a:defRPr>
            </a:lvl3pPr>
            <a:lvl4pPr marL="6144866" indent="0">
              <a:buNone/>
              <a:defRPr sz="6200">
                <a:solidFill>
                  <a:schemeClr val="tx1">
                    <a:tint val="75000"/>
                  </a:schemeClr>
                </a:solidFill>
              </a:defRPr>
            </a:lvl4pPr>
            <a:lvl5pPr marL="8193155" indent="0">
              <a:buNone/>
              <a:defRPr sz="6200">
                <a:solidFill>
                  <a:schemeClr val="tx1">
                    <a:tint val="75000"/>
                  </a:schemeClr>
                </a:solidFill>
              </a:defRPr>
            </a:lvl5pPr>
            <a:lvl6pPr marL="10241444" indent="0">
              <a:buNone/>
              <a:defRPr sz="6200">
                <a:solidFill>
                  <a:schemeClr val="tx1">
                    <a:tint val="75000"/>
                  </a:schemeClr>
                </a:solidFill>
              </a:defRPr>
            </a:lvl6pPr>
            <a:lvl7pPr marL="12289733" indent="0">
              <a:buNone/>
              <a:defRPr sz="6200">
                <a:solidFill>
                  <a:schemeClr val="tx1">
                    <a:tint val="75000"/>
                  </a:schemeClr>
                </a:solidFill>
              </a:defRPr>
            </a:lvl7pPr>
            <a:lvl8pPr marL="14338021" indent="0">
              <a:buNone/>
              <a:defRPr sz="6200">
                <a:solidFill>
                  <a:schemeClr val="tx1">
                    <a:tint val="75000"/>
                  </a:schemeClr>
                </a:solidFill>
              </a:defRPr>
            </a:lvl8pPr>
            <a:lvl9pPr marL="16386310" indent="0">
              <a:buNone/>
              <a:defRPr sz="6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5C461451-7086-4264-8880-62A97F83AAD5}" type="datetime1">
              <a:rPr lang="en-US"/>
              <a:pPr/>
              <a:t>10/1/2024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AABA983B-9B99-4274-9710-BBDB91BFBD87}" type="slidenum">
              <a:rPr lang="en-US"/>
              <a:pPr/>
              <a:t>‹#›</a:t>
            </a:fld>
            <a:endParaRPr lang="en-US"/>
          </a:p>
        </p:txBody>
      </p:sp>
    </p:spTree>
    <p:extLst>
      <p:ext uri="{BB962C8B-B14F-4D97-AF65-F5344CB8AC3E}">
        <p14:creationId xmlns:p14="http://schemas.microsoft.com/office/powerpoint/2010/main" val="865847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94561" y="7680967"/>
            <a:ext cx="19385280" cy="21724622"/>
          </a:xfrm>
        </p:spPr>
        <p:txBody>
          <a:bodyPr/>
          <a:lstStyle>
            <a:lvl1pPr>
              <a:defRPr sz="12600"/>
            </a:lvl1pPr>
            <a:lvl2pPr>
              <a:defRPr sz="10800"/>
            </a:lvl2pPr>
            <a:lvl3pPr>
              <a:defRPr sz="9000"/>
            </a:lvl3pPr>
            <a:lvl4pPr>
              <a:defRPr sz="8001"/>
            </a:lvl4pPr>
            <a:lvl5pPr>
              <a:defRPr sz="8001"/>
            </a:lvl5pPr>
            <a:lvl6pPr>
              <a:defRPr sz="8001"/>
            </a:lvl6pPr>
            <a:lvl7pPr>
              <a:defRPr sz="8001"/>
            </a:lvl7pPr>
            <a:lvl8pPr>
              <a:defRPr sz="8001"/>
            </a:lvl8pPr>
            <a:lvl9pPr>
              <a:defRPr sz="80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311361" y="7680967"/>
            <a:ext cx="19385280" cy="21724622"/>
          </a:xfrm>
        </p:spPr>
        <p:txBody>
          <a:bodyPr/>
          <a:lstStyle>
            <a:lvl1pPr>
              <a:defRPr sz="12600"/>
            </a:lvl1pPr>
            <a:lvl2pPr>
              <a:defRPr sz="10800"/>
            </a:lvl2pPr>
            <a:lvl3pPr>
              <a:defRPr sz="9000"/>
            </a:lvl3pPr>
            <a:lvl4pPr>
              <a:defRPr sz="8001"/>
            </a:lvl4pPr>
            <a:lvl5pPr>
              <a:defRPr sz="8001"/>
            </a:lvl5pPr>
            <a:lvl6pPr>
              <a:defRPr sz="8001"/>
            </a:lvl6pPr>
            <a:lvl7pPr>
              <a:defRPr sz="8001"/>
            </a:lvl7pPr>
            <a:lvl8pPr>
              <a:defRPr sz="8001"/>
            </a:lvl8pPr>
            <a:lvl9pPr>
              <a:defRPr sz="80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5F6872B6-52C0-4425-8D8B-3911DF6788F2}" type="datetime1">
              <a:rPr lang="en-US"/>
              <a:pPr/>
              <a:t>10/1/2024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A082CDB6-BB76-43DE-BA68-179DD83227E0}" type="slidenum">
              <a:rPr lang="en-US"/>
              <a:pPr/>
              <a:t>‹#›</a:t>
            </a:fld>
            <a:endParaRPr lang="en-US"/>
          </a:p>
        </p:txBody>
      </p:sp>
    </p:spTree>
    <p:extLst>
      <p:ext uri="{BB962C8B-B14F-4D97-AF65-F5344CB8AC3E}">
        <p14:creationId xmlns:p14="http://schemas.microsoft.com/office/powerpoint/2010/main" val="310678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1" y="7368542"/>
            <a:ext cx="19392905" cy="3070858"/>
          </a:xfrm>
        </p:spPr>
        <p:txBody>
          <a:bodyPr anchor="b"/>
          <a:lstStyle>
            <a:lvl1pPr marL="0" indent="0">
              <a:buNone/>
              <a:defRPr sz="10800" b="1"/>
            </a:lvl1pPr>
            <a:lvl2pPr marL="2048289" indent="0">
              <a:buNone/>
              <a:defRPr sz="9000" b="1"/>
            </a:lvl2pPr>
            <a:lvl3pPr marL="4096578" indent="0">
              <a:buNone/>
              <a:defRPr sz="8001" b="1"/>
            </a:lvl3pPr>
            <a:lvl4pPr marL="6144866" indent="0">
              <a:buNone/>
              <a:defRPr sz="7200" b="1"/>
            </a:lvl4pPr>
            <a:lvl5pPr marL="8193155" indent="0">
              <a:buNone/>
              <a:defRPr sz="7200" b="1"/>
            </a:lvl5pPr>
            <a:lvl6pPr marL="10241444" indent="0">
              <a:buNone/>
              <a:defRPr sz="7200" b="1"/>
            </a:lvl6pPr>
            <a:lvl7pPr marL="12289733" indent="0">
              <a:buNone/>
              <a:defRPr sz="7200" b="1"/>
            </a:lvl7pPr>
            <a:lvl8pPr marL="14338021" indent="0">
              <a:buNone/>
              <a:defRPr sz="7200" b="1"/>
            </a:lvl8pPr>
            <a:lvl9pPr marL="16386310" indent="0">
              <a:buNone/>
              <a:defRPr sz="7200" b="1"/>
            </a:lvl9pPr>
          </a:lstStyle>
          <a:p>
            <a:pPr lvl="0"/>
            <a:r>
              <a:rPr lang="en-US"/>
              <a:t>Click to edit Master text styles</a:t>
            </a:r>
          </a:p>
        </p:txBody>
      </p:sp>
      <p:sp>
        <p:nvSpPr>
          <p:cNvPr id="4" name="Content Placeholder 3"/>
          <p:cNvSpPr>
            <a:spLocks noGrp="1"/>
          </p:cNvSpPr>
          <p:nvPr>
            <p:ph sz="half" idx="2"/>
          </p:nvPr>
        </p:nvSpPr>
        <p:spPr>
          <a:xfrm>
            <a:off x="2194561" y="10439400"/>
            <a:ext cx="19392905" cy="18966182"/>
          </a:xfrm>
        </p:spPr>
        <p:txBody>
          <a:bodyPr/>
          <a:lstStyle>
            <a:lvl1pPr>
              <a:defRPr sz="10800"/>
            </a:lvl1pPr>
            <a:lvl2pPr>
              <a:defRPr sz="9000"/>
            </a:lvl2pPr>
            <a:lvl3pPr>
              <a:defRPr sz="8001"/>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8" y="7368542"/>
            <a:ext cx="19400521" cy="3070858"/>
          </a:xfrm>
        </p:spPr>
        <p:txBody>
          <a:bodyPr anchor="b"/>
          <a:lstStyle>
            <a:lvl1pPr marL="0" indent="0">
              <a:buNone/>
              <a:defRPr sz="10800" b="1"/>
            </a:lvl1pPr>
            <a:lvl2pPr marL="2048289" indent="0">
              <a:buNone/>
              <a:defRPr sz="9000" b="1"/>
            </a:lvl2pPr>
            <a:lvl3pPr marL="4096578" indent="0">
              <a:buNone/>
              <a:defRPr sz="8001" b="1"/>
            </a:lvl3pPr>
            <a:lvl4pPr marL="6144866" indent="0">
              <a:buNone/>
              <a:defRPr sz="7200" b="1"/>
            </a:lvl4pPr>
            <a:lvl5pPr marL="8193155" indent="0">
              <a:buNone/>
              <a:defRPr sz="7200" b="1"/>
            </a:lvl5pPr>
            <a:lvl6pPr marL="10241444" indent="0">
              <a:buNone/>
              <a:defRPr sz="7200" b="1"/>
            </a:lvl6pPr>
            <a:lvl7pPr marL="12289733" indent="0">
              <a:buNone/>
              <a:defRPr sz="7200" b="1"/>
            </a:lvl7pPr>
            <a:lvl8pPr marL="14338021" indent="0">
              <a:buNone/>
              <a:defRPr sz="7200" b="1"/>
            </a:lvl8pPr>
            <a:lvl9pPr marL="16386310" indent="0">
              <a:buNone/>
              <a:defRPr sz="7200" b="1"/>
            </a:lvl9pPr>
          </a:lstStyle>
          <a:p>
            <a:pPr lvl="0"/>
            <a:r>
              <a:rPr lang="en-US"/>
              <a:t>Click to edit Master text styles</a:t>
            </a:r>
          </a:p>
        </p:txBody>
      </p:sp>
      <p:sp>
        <p:nvSpPr>
          <p:cNvPr id="6" name="Content Placeholder 5"/>
          <p:cNvSpPr>
            <a:spLocks noGrp="1"/>
          </p:cNvSpPr>
          <p:nvPr>
            <p:ph sz="quarter" idx="4"/>
          </p:nvPr>
        </p:nvSpPr>
        <p:spPr>
          <a:xfrm>
            <a:off x="22296128" y="10439400"/>
            <a:ext cx="19400521" cy="18966182"/>
          </a:xfrm>
        </p:spPr>
        <p:txBody>
          <a:bodyPr/>
          <a:lstStyle>
            <a:lvl1pPr>
              <a:defRPr sz="10800"/>
            </a:lvl1pPr>
            <a:lvl2pPr>
              <a:defRPr sz="9000"/>
            </a:lvl2pPr>
            <a:lvl3pPr>
              <a:defRPr sz="8001"/>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CA990FAD-52DB-4086-A146-833016606FB2}" type="datetime1">
              <a:rPr lang="en-US"/>
              <a:pPr/>
              <a:t>10/1/2024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6A53F8D7-BBB3-461F-8D54-544992F8852C}" type="slidenum">
              <a:rPr lang="en-US"/>
              <a:pPr/>
              <a:t>‹#›</a:t>
            </a:fld>
            <a:endParaRPr lang="en-US"/>
          </a:p>
        </p:txBody>
      </p:sp>
    </p:spTree>
    <p:extLst>
      <p:ext uri="{BB962C8B-B14F-4D97-AF65-F5344CB8AC3E}">
        <p14:creationId xmlns:p14="http://schemas.microsoft.com/office/powerpoint/2010/main" val="2304529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2B8DBD9D-4495-47C7-B6D3-C6A3A8160DF6}" type="datetime1">
              <a:rPr lang="en-US"/>
              <a:pPr/>
              <a:t>10/1/2024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8EC76FC1-ABC0-4773-9B45-781E46DC423F}" type="slidenum">
              <a:rPr lang="en-US"/>
              <a:pPr/>
              <a:t>‹#›</a:t>
            </a:fld>
            <a:endParaRPr lang="en-US"/>
          </a:p>
        </p:txBody>
      </p:sp>
    </p:spTree>
    <p:extLst>
      <p:ext uri="{BB962C8B-B14F-4D97-AF65-F5344CB8AC3E}">
        <p14:creationId xmlns:p14="http://schemas.microsoft.com/office/powerpoint/2010/main" val="3302215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B5E78C52-36B7-4780-AC4B-63094FBA7DA1}" type="datetime1">
              <a:rPr lang="en-US"/>
              <a:pPr/>
              <a:t>10/1/2024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C05B44EC-365D-417A-82E1-643415759A13}" type="slidenum">
              <a:rPr lang="en-US"/>
              <a:pPr/>
              <a:t>‹#›</a:t>
            </a:fld>
            <a:endParaRPr lang="en-US"/>
          </a:p>
        </p:txBody>
      </p:sp>
    </p:spTree>
    <p:extLst>
      <p:ext uri="{BB962C8B-B14F-4D97-AF65-F5344CB8AC3E}">
        <p14:creationId xmlns:p14="http://schemas.microsoft.com/office/powerpoint/2010/main" val="330119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6" y="1310640"/>
            <a:ext cx="14439902" cy="5577840"/>
          </a:xfrm>
        </p:spPr>
        <p:txBody>
          <a:bodyPr anchor="b"/>
          <a:lstStyle>
            <a:lvl1pPr algn="l">
              <a:defRPr sz="9000" b="1"/>
            </a:lvl1pPr>
          </a:lstStyle>
          <a:p>
            <a:r>
              <a:rPr lang="en-US"/>
              <a:t>Click to edit Master title style</a:t>
            </a:r>
          </a:p>
        </p:txBody>
      </p:sp>
      <p:sp>
        <p:nvSpPr>
          <p:cNvPr id="3" name="Content Placeholder 2"/>
          <p:cNvSpPr>
            <a:spLocks noGrp="1"/>
          </p:cNvSpPr>
          <p:nvPr>
            <p:ph idx="1"/>
          </p:nvPr>
        </p:nvSpPr>
        <p:spPr>
          <a:xfrm>
            <a:off x="17160243" y="1310647"/>
            <a:ext cx="24536401" cy="28094942"/>
          </a:xfrm>
        </p:spPr>
        <p:txBody>
          <a:bodyPr/>
          <a:lstStyle>
            <a:lvl1pPr>
              <a:defRPr sz="14301"/>
            </a:lvl1pPr>
            <a:lvl2pPr>
              <a:defRPr sz="12600"/>
            </a:lvl2pPr>
            <a:lvl3pPr>
              <a:defRPr sz="10800"/>
            </a:lvl3pPr>
            <a:lvl4pPr>
              <a:defRPr sz="9000"/>
            </a:lvl4pPr>
            <a:lvl5pPr>
              <a:defRPr sz="9000"/>
            </a:lvl5pPr>
            <a:lvl6pPr>
              <a:defRPr sz="9000"/>
            </a:lvl6pPr>
            <a:lvl7pPr>
              <a:defRPr sz="9000"/>
            </a:lvl7pPr>
            <a:lvl8pPr>
              <a:defRPr sz="9000"/>
            </a:lvl8pPr>
            <a:lvl9pPr>
              <a:defRPr sz="9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6" y="6888487"/>
            <a:ext cx="14439902" cy="22517102"/>
          </a:xfrm>
        </p:spPr>
        <p:txBody>
          <a:bodyPr/>
          <a:lstStyle>
            <a:lvl1pPr marL="0" indent="0">
              <a:buNone/>
              <a:defRPr sz="6200"/>
            </a:lvl1pPr>
            <a:lvl2pPr marL="2048289" indent="0">
              <a:buNone/>
              <a:defRPr sz="5401"/>
            </a:lvl2pPr>
            <a:lvl3pPr marL="4096578" indent="0">
              <a:buNone/>
              <a:defRPr sz="4399"/>
            </a:lvl3pPr>
            <a:lvl4pPr marL="6144866" indent="0">
              <a:buNone/>
              <a:defRPr sz="4100"/>
            </a:lvl4pPr>
            <a:lvl5pPr marL="8193155" indent="0">
              <a:buNone/>
              <a:defRPr sz="4100"/>
            </a:lvl5pPr>
            <a:lvl6pPr marL="10241444" indent="0">
              <a:buNone/>
              <a:defRPr sz="4100"/>
            </a:lvl6pPr>
            <a:lvl7pPr marL="12289733" indent="0">
              <a:buNone/>
              <a:defRPr sz="4100"/>
            </a:lvl7pPr>
            <a:lvl8pPr marL="14338021" indent="0">
              <a:buNone/>
              <a:defRPr sz="4100"/>
            </a:lvl8pPr>
            <a:lvl9pPr marL="16386310" indent="0">
              <a:buNone/>
              <a:defRPr sz="41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B620D6EF-FE54-421C-A951-595FAC42C570}" type="datetime1">
              <a:rPr lang="en-US"/>
              <a:pPr/>
              <a:t>10/1/2024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D9F1F219-A3CB-41FD-BB18-1A4463708BF5}" type="slidenum">
              <a:rPr lang="en-US"/>
              <a:pPr/>
              <a:t>‹#›</a:t>
            </a:fld>
            <a:endParaRPr lang="en-US"/>
          </a:p>
        </p:txBody>
      </p:sp>
    </p:spTree>
    <p:extLst>
      <p:ext uri="{BB962C8B-B14F-4D97-AF65-F5344CB8AC3E}">
        <p14:creationId xmlns:p14="http://schemas.microsoft.com/office/powerpoint/2010/main" val="417932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1"/>
            <a:ext cx="26334720" cy="2720342"/>
          </a:xfrm>
        </p:spPr>
        <p:txBody>
          <a:bodyPr anchor="b"/>
          <a:lstStyle>
            <a:lvl1pPr algn="l">
              <a:defRPr sz="9000" b="1"/>
            </a:lvl1pPr>
          </a:lstStyle>
          <a:p>
            <a:r>
              <a:rPr lang="en-US"/>
              <a:t>Click to edit Master title style</a:t>
            </a:r>
          </a:p>
        </p:txBody>
      </p:sp>
      <p:sp>
        <p:nvSpPr>
          <p:cNvPr id="3" name="Picture Placeholder 2"/>
          <p:cNvSpPr>
            <a:spLocks noGrp="1"/>
          </p:cNvSpPr>
          <p:nvPr>
            <p:ph type="pic" idx="1"/>
          </p:nvPr>
        </p:nvSpPr>
        <p:spPr>
          <a:xfrm>
            <a:off x="8602982" y="2941320"/>
            <a:ext cx="26334720" cy="19751040"/>
          </a:xfrm>
        </p:spPr>
        <p:txBody>
          <a:bodyPr rtlCol="0">
            <a:normAutofit/>
          </a:bodyPr>
          <a:lstStyle>
            <a:lvl1pPr marL="0" indent="0">
              <a:buNone/>
              <a:defRPr sz="14301"/>
            </a:lvl1pPr>
            <a:lvl2pPr marL="2048289" indent="0">
              <a:buNone/>
              <a:defRPr sz="12600"/>
            </a:lvl2pPr>
            <a:lvl3pPr marL="4096578" indent="0">
              <a:buNone/>
              <a:defRPr sz="10800"/>
            </a:lvl3pPr>
            <a:lvl4pPr marL="6144866" indent="0">
              <a:buNone/>
              <a:defRPr sz="9000"/>
            </a:lvl4pPr>
            <a:lvl5pPr marL="8193155" indent="0">
              <a:buNone/>
              <a:defRPr sz="9000"/>
            </a:lvl5pPr>
            <a:lvl6pPr marL="10241444" indent="0">
              <a:buNone/>
              <a:defRPr sz="9000"/>
            </a:lvl6pPr>
            <a:lvl7pPr marL="12289733" indent="0">
              <a:buNone/>
              <a:defRPr sz="9000"/>
            </a:lvl7pPr>
            <a:lvl8pPr marL="14338021" indent="0">
              <a:buNone/>
              <a:defRPr sz="9000"/>
            </a:lvl8pPr>
            <a:lvl9pPr marL="16386310" indent="0">
              <a:buNone/>
              <a:defRPr sz="9000"/>
            </a:lvl9pPr>
          </a:lstStyle>
          <a:p>
            <a:pPr lvl="0"/>
            <a:endParaRPr lang="en-US" noProof="0"/>
          </a:p>
        </p:txBody>
      </p:sp>
      <p:sp>
        <p:nvSpPr>
          <p:cNvPr id="4" name="Text Placeholder 3"/>
          <p:cNvSpPr>
            <a:spLocks noGrp="1"/>
          </p:cNvSpPr>
          <p:nvPr>
            <p:ph type="body" sz="half" idx="2"/>
          </p:nvPr>
        </p:nvSpPr>
        <p:spPr>
          <a:xfrm>
            <a:off x="8602982" y="25763223"/>
            <a:ext cx="26334720" cy="3863338"/>
          </a:xfrm>
        </p:spPr>
        <p:txBody>
          <a:bodyPr/>
          <a:lstStyle>
            <a:lvl1pPr marL="0" indent="0">
              <a:buNone/>
              <a:defRPr sz="6200"/>
            </a:lvl1pPr>
            <a:lvl2pPr marL="2048289" indent="0">
              <a:buNone/>
              <a:defRPr sz="5401"/>
            </a:lvl2pPr>
            <a:lvl3pPr marL="4096578" indent="0">
              <a:buNone/>
              <a:defRPr sz="4399"/>
            </a:lvl3pPr>
            <a:lvl4pPr marL="6144866" indent="0">
              <a:buNone/>
              <a:defRPr sz="4100"/>
            </a:lvl4pPr>
            <a:lvl5pPr marL="8193155" indent="0">
              <a:buNone/>
              <a:defRPr sz="4100"/>
            </a:lvl5pPr>
            <a:lvl6pPr marL="10241444" indent="0">
              <a:buNone/>
              <a:defRPr sz="4100"/>
            </a:lvl6pPr>
            <a:lvl7pPr marL="12289733" indent="0">
              <a:buNone/>
              <a:defRPr sz="4100"/>
            </a:lvl7pPr>
            <a:lvl8pPr marL="14338021" indent="0">
              <a:buNone/>
              <a:defRPr sz="4100"/>
            </a:lvl8pPr>
            <a:lvl9pPr marL="16386310" indent="0">
              <a:buNone/>
              <a:defRPr sz="41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3688A6C7-0B0F-493A-90C6-D4685973578D}" type="datetime1">
              <a:rPr lang="en-US"/>
              <a:pPr/>
              <a:t>10/1/2024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1747641D-A8FC-43F4-B323-69CBE46FB9C1}" type="slidenum">
              <a:rPr lang="en-US"/>
              <a:pPr/>
              <a:t>‹#›</a:t>
            </a:fld>
            <a:endParaRPr lang="en-US"/>
          </a:p>
        </p:txBody>
      </p:sp>
    </p:spTree>
    <p:extLst>
      <p:ext uri="{BB962C8B-B14F-4D97-AF65-F5344CB8AC3E}">
        <p14:creationId xmlns:p14="http://schemas.microsoft.com/office/powerpoint/2010/main" val="1730391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934B0E5-BA57-41EA-AAFB-65DD2A01362C}" type="datetime1">
              <a:rPr lang="en-US"/>
              <a:pPr/>
              <a:t>10/1/2024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5F655245-CF5A-497E-A21C-E1D06931A355}" type="slidenum">
              <a:rPr lang="en-US"/>
              <a:pPr/>
              <a:t>‹#›</a:t>
            </a:fld>
            <a:endParaRPr lang="en-US"/>
          </a:p>
        </p:txBody>
      </p:sp>
    </p:spTree>
    <p:extLst>
      <p:ext uri="{BB962C8B-B14F-4D97-AF65-F5344CB8AC3E}">
        <p14:creationId xmlns:p14="http://schemas.microsoft.com/office/powerpoint/2010/main" val="1808692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121" y="1318271"/>
            <a:ext cx="9875520" cy="280873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94561" y="1318271"/>
            <a:ext cx="28895040" cy="280873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14D7F309-C0DB-413C-B210-AD9BF2E93381}" type="datetime1">
              <a:rPr lang="en-US"/>
              <a:pPr/>
              <a:t>10/1/2024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36654357-CF13-4B8D-9AB0-6931FC5290A5}" type="slidenum">
              <a:rPr lang="en-US"/>
              <a:pPr/>
              <a:t>‹#›</a:t>
            </a:fld>
            <a:endParaRPr lang="en-US"/>
          </a:p>
        </p:txBody>
      </p:sp>
    </p:spTree>
    <p:extLst>
      <p:ext uri="{BB962C8B-B14F-4D97-AF65-F5344CB8AC3E}">
        <p14:creationId xmlns:p14="http://schemas.microsoft.com/office/powerpoint/2010/main" val="886382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193925" y="1317625"/>
            <a:ext cx="3950335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09648" tIns="204823" rIns="409648" bIns="204823"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2193925" y="7680324"/>
            <a:ext cx="39503350" cy="21724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09648" tIns="204823" rIns="409648" bIns="204823"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3925" y="30510164"/>
            <a:ext cx="10242550" cy="1752600"/>
          </a:xfrm>
          <a:prstGeom prst="rect">
            <a:avLst/>
          </a:prstGeom>
        </p:spPr>
        <p:txBody>
          <a:bodyPr vert="horz" wrap="square" lIns="409648" tIns="204823" rIns="409648" bIns="204823" numCol="1" anchor="ctr" anchorCtr="0" compatLnSpc="1">
            <a:prstTxWarp prst="textNoShape">
              <a:avLst/>
            </a:prstTxWarp>
          </a:bodyPr>
          <a:lstStyle>
            <a:lvl1pPr>
              <a:defRPr sz="5401">
                <a:solidFill>
                  <a:srgbClr val="898989"/>
                </a:solidFill>
                <a:latin typeface="Calibri" pitchFamily="34" charset="0"/>
                <a:cs typeface="Arial" pitchFamily="34" charset="0"/>
              </a:defRPr>
            </a:lvl1pPr>
          </a:lstStyle>
          <a:p>
            <a:fld id="{67252033-0FDC-4266-899A-5FB2CD0AFB16}" type="datetime1">
              <a:rPr lang="en-US"/>
              <a:pPr/>
              <a:t>10/1/2024</a:t>
            </a:fld>
            <a:endParaRPr lang="en-US"/>
          </a:p>
        </p:txBody>
      </p:sp>
      <p:sp>
        <p:nvSpPr>
          <p:cNvPr id="5" name="Footer Placeholder 4"/>
          <p:cNvSpPr>
            <a:spLocks noGrp="1"/>
          </p:cNvSpPr>
          <p:nvPr>
            <p:ph type="ftr" sz="quarter" idx="3"/>
          </p:nvPr>
        </p:nvSpPr>
        <p:spPr>
          <a:xfrm>
            <a:off x="14995525" y="30510164"/>
            <a:ext cx="13900150" cy="1752600"/>
          </a:xfrm>
          <a:prstGeom prst="rect">
            <a:avLst/>
          </a:prstGeom>
        </p:spPr>
        <p:txBody>
          <a:bodyPr vert="horz" lIns="409648" tIns="204823" rIns="409648" bIns="204823" rtlCol="0" anchor="ctr"/>
          <a:lstStyle>
            <a:lvl1pPr algn="ctr" fontAlgn="auto">
              <a:spcBef>
                <a:spcPts val="0"/>
              </a:spcBef>
              <a:spcAft>
                <a:spcPts val="0"/>
              </a:spcAft>
              <a:defRPr sz="5401">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31454725" y="30510164"/>
            <a:ext cx="10242550" cy="1752600"/>
          </a:xfrm>
          <a:prstGeom prst="rect">
            <a:avLst/>
          </a:prstGeom>
        </p:spPr>
        <p:txBody>
          <a:bodyPr vert="horz" wrap="square" lIns="409648" tIns="204823" rIns="409648" bIns="204823" numCol="1" anchor="ctr" anchorCtr="0" compatLnSpc="1">
            <a:prstTxWarp prst="textNoShape">
              <a:avLst/>
            </a:prstTxWarp>
          </a:bodyPr>
          <a:lstStyle>
            <a:lvl1pPr algn="r">
              <a:defRPr sz="5401">
                <a:solidFill>
                  <a:srgbClr val="898989"/>
                </a:solidFill>
                <a:latin typeface="Calibri" pitchFamily="34" charset="0"/>
                <a:cs typeface="Arial" pitchFamily="34" charset="0"/>
              </a:defRPr>
            </a:lvl1pPr>
          </a:lstStyle>
          <a:p>
            <a:fld id="{E73010AB-8A29-4BE7-B064-A3EFC3BD281A}"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755"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ctr" rtl="0" eaLnBrk="0" fontAlgn="base" hangingPunct="0">
        <a:spcBef>
          <a:spcPct val="0"/>
        </a:spcBef>
        <a:spcAft>
          <a:spcPct val="0"/>
        </a:spcAft>
        <a:defRPr sz="19700" kern="1200">
          <a:solidFill>
            <a:schemeClr val="tx1"/>
          </a:solidFill>
          <a:latin typeface="+mj-lt"/>
          <a:ea typeface="ＭＳ Ｐゴシック" charset="-128"/>
          <a:cs typeface="ＭＳ Ｐゴシック" charset="-128"/>
        </a:defRPr>
      </a:lvl1pPr>
      <a:lvl2pPr algn="ctr" rtl="0" eaLnBrk="0" fontAlgn="base" hangingPunct="0">
        <a:spcBef>
          <a:spcPct val="0"/>
        </a:spcBef>
        <a:spcAft>
          <a:spcPct val="0"/>
        </a:spcAft>
        <a:defRPr sz="19700">
          <a:solidFill>
            <a:schemeClr val="tx1"/>
          </a:solidFill>
          <a:latin typeface="Calibri" pitchFamily="34" charset="0"/>
          <a:ea typeface="ＭＳ Ｐゴシック" charset="-128"/>
          <a:cs typeface="ＭＳ Ｐゴシック" charset="-128"/>
        </a:defRPr>
      </a:lvl2pPr>
      <a:lvl3pPr algn="ctr" rtl="0" eaLnBrk="0" fontAlgn="base" hangingPunct="0">
        <a:spcBef>
          <a:spcPct val="0"/>
        </a:spcBef>
        <a:spcAft>
          <a:spcPct val="0"/>
        </a:spcAft>
        <a:defRPr sz="19700">
          <a:solidFill>
            <a:schemeClr val="tx1"/>
          </a:solidFill>
          <a:latin typeface="Calibri" pitchFamily="34" charset="0"/>
          <a:ea typeface="ＭＳ Ｐゴシック" charset="-128"/>
          <a:cs typeface="ＭＳ Ｐゴシック" charset="-128"/>
        </a:defRPr>
      </a:lvl3pPr>
      <a:lvl4pPr algn="ctr" rtl="0" eaLnBrk="0" fontAlgn="base" hangingPunct="0">
        <a:spcBef>
          <a:spcPct val="0"/>
        </a:spcBef>
        <a:spcAft>
          <a:spcPct val="0"/>
        </a:spcAft>
        <a:defRPr sz="19700">
          <a:solidFill>
            <a:schemeClr val="tx1"/>
          </a:solidFill>
          <a:latin typeface="Calibri" pitchFamily="34" charset="0"/>
          <a:ea typeface="ＭＳ Ｐゴシック" charset="-128"/>
          <a:cs typeface="ＭＳ Ｐゴシック" charset="-128"/>
        </a:defRPr>
      </a:lvl4pPr>
      <a:lvl5pPr algn="ctr" rtl="0" eaLnBrk="0" fontAlgn="base" hangingPunct="0">
        <a:spcBef>
          <a:spcPct val="0"/>
        </a:spcBef>
        <a:spcAft>
          <a:spcPct val="0"/>
        </a:spcAft>
        <a:defRPr sz="19700">
          <a:solidFill>
            <a:schemeClr val="tx1"/>
          </a:solidFill>
          <a:latin typeface="Calibri" pitchFamily="34" charset="0"/>
          <a:ea typeface="ＭＳ Ｐゴシック" charset="-128"/>
          <a:cs typeface="ＭＳ Ｐゴシック" charset="-128"/>
        </a:defRPr>
      </a:lvl5pPr>
      <a:lvl6pPr marL="2048289" algn="ctr" rtl="0" fontAlgn="base">
        <a:spcBef>
          <a:spcPct val="0"/>
        </a:spcBef>
        <a:spcAft>
          <a:spcPct val="0"/>
        </a:spcAft>
        <a:defRPr sz="19700">
          <a:solidFill>
            <a:schemeClr val="tx1"/>
          </a:solidFill>
          <a:latin typeface="Calibri" pitchFamily="34" charset="0"/>
        </a:defRPr>
      </a:lvl6pPr>
      <a:lvl7pPr marL="4096578" algn="ctr" rtl="0" fontAlgn="base">
        <a:spcBef>
          <a:spcPct val="0"/>
        </a:spcBef>
        <a:spcAft>
          <a:spcPct val="0"/>
        </a:spcAft>
        <a:defRPr sz="19700">
          <a:solidFill>
            <a:schemeClr val="tx1"/>
          </a:solidFill>
          <a:latin typeface="Calibri" pitchFamily="34" charset="0"/>
        </a:defRPr>
      </a:lvl7pPr>
      <a:lvl8pPr marL="6144866" algn="ctr" rtl="0" fontAlgn="base">
        <a:spcBef>
          <a:spcPct val="0"/>
        </a:spcBef>
        <a:spcAft>
          <a:spcPct val="0"/>
        </a:spcAft>
        <a:defRPr sz="19700">
          <a:solidFill>
            <a:schemeClr val="tx1"/>
          </a:solidFill>
          <a:latin typeface="Calibri" pitchFamily="34" charset="0"/>
        </a:defRPr>
      </a:lvl8pPr>
      <a:lvl9pPr marL="8193155" algn="ctr" rtl="0" fontAlgn="base">
        <a:spcBef>
          <a:spcPct val="0"/>
        </a:spcBef>
        <a:spcAft>
          <a:spcPct val="0"/>
        </a:spcAft>
        <a:defRPr sz="19700">
          <a:solidFill>
            <a:schemeClr val="tx1"/>
          </a:solidFill>
          <a:latin typeface="Calibri" pitchFamily="34" charset="0"/>
        </a:defRPr>
      </a:lvl9pPr>
    </p:titleStyle>
    <p:bodyStyle>
      <a:lvl1pPr marL="1535151" indent="-1535151" algn="l" rtl="0" eaLnBrk="0" fontAlgn="base" hangingPunct="0">
        <a:spcBef>
          <a:spcPct val="20000"/>
        </a:spcBef>
        <a:spcAft>
          <a:spcPct val="0"/>
        </a:spcAft>
        <a:buFont typeface="Arial" pitchFamily="34" charset="0"/>
        <a:buChar char="•"/>
        <a:defRPr sz="14301" kern="1200">
          <a:solidFill>
            <a:schemeClr val="tx1"/>
          </a:solidFill>
          <a:latin typeface="+mn-lt"/>
          <a:ea typeface="ＭＳ Ｐゴシック" charset="-128"/>
          <a:cs typeface="ＭＳ Ｐゴシック" charset="-128"/>
        </a:defRPr>
      </a:lvl1pPr>
      <a:lvl2pPr marL="3327483" indent="-1277969" algn="l" rtl="0" eaLnBrk="0" fontAlgn="base" hangingPunct="0">
        <a:spcBef>
          <a:spcPct val="20000"/>
        </a:spcBef>
        <a:spcAft>
          <a:spcPct val="0"/>
        </a:spcAft>
        <a:buFont typeface="Arial" pitchFamily="34" charset="0"/>
        <a:buChar char="–"/>
        <a:defRPr sz="12600" kern="1200">
          <a:solidFill>
            <a:schemeClr val="tx1"/>
          </a:solidFill>
          <a:latin typeface="+mn-lt"/>
          <a:ea typeface="ＭＳ Ｐゴシック" charset="-128"/>
          <a:cs typeface="+mn-cs"/>
        </a:defRPr>
      </a:lvl2pPr>
      <a:lvl3pPr marL="5118228" indent="-1022376" algn="l" rtl="0" eaLnBrk="0" fontAlgn="base" hangingPunct="0">
        <a:spcBef>
          <a:spcPct val="20000"/>
        </a:spcBef>
        <a:spcAft>
          <a:spcPct val="0"/>
        </a:spcAft>
        <a:buFont typeface="Arial" pitchFamily="34" charset="0"/>
        <a:buChar char="•"/>
        <a:defRPr sz="10800" kern="1200">
          <a:solidFill>
            <a:schemeClr val="tx1"/>
          </a:solidFill>
          <a:latin typeface="+mn-lt"/>
          <a:ea typeface="ＭＳ Ｐゴシック" charset="-128"/>
          <a:cs typeface="+mn-cs"/>
        </a:defRPr>
      </a:lvl3pPr>
      <a:lvl4pPr marL="7167741" indent="-1022376" algn="l" rtl="0" eaLnBrk="0" fontAlgn="base" hangingPunct="0">
        <a:spcBef>
          <a:spcPct val="20000"/>
        </a:spcBef>
        <a:spcAft>
          <a:spcPct val="0"/>
        </a:spcAft>
        <a:buFont typeface="Arial" pitchFamily="34" charset="0"/>
        <a:buChar char="–"/>
        <a:defRPr sz="9000" kern="1200">
          <a:solidFill>
            <a:schemeClr val="tx1"/>
          </a:solidFill>
          <a:latin typeface="+mn-lt"/>
          <a:ea typeface="ＭＳ Ｐゴシック" charset="-128"/>
          <a:cs typeface="+mn-cs"/>
        </a:defRPr>
      </a:lvl4pPr>
      <a:lvl5pPr marL="9215667" indent="-1022376" algn="l" rtl="0" eaLnBrk="0" fontAlgn="base" hangingPunct="0">
        <a:spcBef>
          <a:spcPct val="20000"/>
        </a:spcBef>
        <a:spcAft>
          <a:spcPct val="0"/>
        </a:spcAft>
        <a:buFont typeface="Arial" pitchFamily="34" charset="0"/>
        <a:buChar char="»"/>
        <a:defRPr sz="9000" kern="1200">
          <a:solidFill>
            <a:schemeClr val="tx1"/>
          </a:solidFill>
          <a:latin typeface="+mn-lt"/>
          <a:ea typeface="ＭＳ Ｐゴシック" charset="-128"/>
          <a:cs typeface="+mn-cs"/>
        </a:defRPr>
      </a:lvl5pPr>
      <a:lvl6pPr marL="11265587" indent="-1024144" algn="l" defTabSz="4096578" rtl="0" eaLnBrk="1" latinLnBrk="0" hangingPunct="1">
        <a:spcBef>
          <a:spcPct val="20000"/>
        </a:spcBef>
        <a:buFont typeface="Arial" pitchFamily="34" charset="0"/>
        <a:buChar char="•"/>
        <a:defRPr sz="9000" kern="1200">
          <a:solidFill>
            <a:schemeClr val="tx1"/>
          </a:solidFill>
          <a:latin typeface="+mn-lt"/>
          <a:ea typeface="+mn-ea"/>
          <a:cs typeface="+mn-cs"/>
        </a:defRPr>
      </a:lvl6pPr>
      <a:lvl7pPr marL="13313876" indent="-1024144" algn="l" defTabSz="4096578" rtl="0" eaLnBrk="1" latinLnBrk="0" hangingPunct="1">
        <a:spcBef>
          <a:spcPct val="20000"/>
        </a:spcBef>
        <a:buFont typeface="Arial" pitchFamily="34" charset="0"/>
        <a:buChar char="•"/>
        <a:defRPr sz="9000" kern="1200">
          <a:solidFill>
            <a:schemeClr val="tx1"/>
          </a:solidFill>
          <a:latin typeface="+mn-lt"/>
          <a:ea typeface="+mn-ea"/>
          <a:cs typeface="+mn-cs"/>
        </a:defRPr>
      </a:lvl7pPr>
      <a:lvl8pPr marL="15362165" indent="-1024144" algn="l" defTabSz="4096578" rtl="0" eaLnBrk="1" latinLnBrk="0" hangingPunct="1">
        <a:spcBef>
          <a:spcPct val="20000"/>
        </a:spcBef>
        <a:buFont typeface="Arial" pitchFamily="34" charset="0"/>
        <a:buChar char="•"/>
        <a:defRPr sz="9000" kern="1200">
          <a:solidFill>
            <a:schemeClr val="tx1"/>
          </a:solidFill>
          <a:latin typeface="+mn-lt"/>
          <a:ea typeface="+mn-ea"/>
          <a:cs typeface="+mn-cs"/>
        </a:defRPr>
      </a:lvl8pPr>
      <a:lvl9pPr marL="17410454" indent="-1024144" algn="l" defTabSz="4096578" rtl="0" eaLnBrk="1" latinLnBrk="0" hangingPunct="1">
        <a:spcBef>
          <a:spcPct val="20000"/>
        </a:spcBef>
        <a:buFont typeface="Arial" pitchFamily="34" charset="0"/>
        <a:buChar char="•"/>
        <a:defRPr sz="9000" kern="1200">
          <a:solidFill>
            <a:schemeClr val="tx1"/>
          </a:solidFill>
          <a:latin typeface="+mn-lt"/>
          <a:ea typeface="+mn-ea"/>
          <a:cs typeface="+mn-cs"/>
        </a:defRPr>
      </a:lvl9pPr>
    </p:bodyStyle>
    <p:otherStyle>
      <a:defPPr>
        <a:defRPr lang="en-US"/>
      </a:defPPr>
      <a:lvl1pPr marL="0" algn="l" defTabSz="4096578" rtl="0" eaLnBrk="1" latinLnBrk="0" hangingPunct="1">
        <a:defRPr sz="8001" kern="1200">
          <a:solidFill>
            <a:schemeClr val="tx1"/>
          </a:solidFill>
          <a:latin typeface="+mn-lt"/>
          <a:ea typeface="+mn-ea"/>
          <a:cs typeface="+mn-cs"/>
        </a:defRPr>
      </a:lvl1pPr>
      <a:lvl2pPr marL="2048289" algn="l" defTabSz="4096578" rtl="0" eaLnBrk="1" latinLnBrk="0" hangingPunct="1">
        <a:defRPr sz="8001" kern="1200">
          <a:solidFill>
            <a:schemeClr val="tx1"/>
          </a:solidFill>
          <a:latin typeface="+mn-lt"/>
          <a:ea typeface="+mn-ea"/>
          <a:cs typeface="+mn-cs"/>
        </a:defRPr>
      </a:lvl2pPr>
      <a:lvl3pPr marL="4096578" algn="l" defTabSz="4096578" rtl="0" eaLnBrk="1" latinLnBrk="0" hangingPunct="1">
        <a:defRPr sz="8001" kern="1200">
          <a:solidFill>
            <a:schemeClr val="tx1"/>
          </a:solidFill>
          <a:latin typeface="+mn-lt"/>
          <a:ea typeface="+mn-ea"/>
          <a:cs typeface="+mn-cs"/>
        </a:defRPr>
      </a:lvl3pPr>
      <a:lvl4pPr marL="6144866" algn="l" defTabSz="4096578" rtl="0" eaLnBrk="1" latinLnBrk="0" hangingPunct="1">
        <a:defRPr sz="8001" kern="1200">
          <a:solidFill>
            <a:schemeClr val="tx1"/>
          </a:solidFill>
          <a:latin typeface="+mn-lt"/>
          <a:ea typeface="+mn-ea"/>
          <a:cs typeface="+mn-cs"/>
        </a:defRPr>
      </a:lvl4pPr>
      <a:lvl5pPr marL="8193155" algn="l" defTabSz="4096578" rtl="0" eaLnBrk="1" latinLnBrk="0" hangingPunct="1">
        <a:defRPr sz="8001" kern="1200">
          <a:solidFill>
            <a:schemeClr val="tx1"/>
          </a:solidFill>
          <a:latin typeface="+mn-lt"/>
          <a:ea typeface="+mn-ea"/>
          <a:cs typeface="+mn-cs"/>
        </a:defRPr>
      </a:lvl5pPr>
      <a:lvl6pPr marL="10241444" algn="l" defTabSz="4096578" rtl="0" eaLnBrk="1" latinLnBrk="0" hangingPunct="1">
        <a:defRPr sz="8001" kern="1200">
          <a:solidFill>
            <a:schemeClr val="tx1"/>
          </a:solidFill>
          <a:latin typeface="+mn-lt"/>
          <a:ea typeface="+mn-ea"/>
          <a:cs typeface="+mn-cs"/>
        </a:defRPr>
      </a:lvl6pPr>
      <a:lvl7pPr marL="12289733" algn="l" defTabSz="4096578" rtl="0" eaLnBrk="1" latinLnBrk="0" hangingPunct="1">
        <a:defRPr sz="8001" kern="1200">
          <a:solidFill>
            <a:schemeClr val="tx1"/>
          </a:solidFill>
          <a:latin typeface="+mn-lt"/>
          <a:ea typeface="+mn-ea"/>
          <a:cs typeface="+mn-cs"/>
        </a:defRPr>
      </a:lvl7pPr>
      <a:lvl8pPr marL="14338021" algn="l" defTabSz="4096578" rtl="0" eaLnBrk="1" latinLnBrk="0" hangingPunct="1">
        <a:defRPr sz="8001" kern="1200">
          <a:solidFill>
            <a:schemeClr val="tx1"/>
          </a:solidFill>
          <a:latin typeface="+mn-lt"/>
          <a:ea typeface="+mn-ea"/>
          <a:cs typeface="+mn-cs"/>
        </a:defRPr>
      </a:lvl8pPr>
      <a:lvl9pPr marL="16386310" algn="l" defTabSz="4096578" rtl="0" eaLnBrk="1" latinLnBrk="0" hangingPunct="1">
        <a:defRPr sz="80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0.png"/><Relationship Id="rId3" Type="http://schemas.openxmlformats.org/officeDocument/2006/relationships/notesSlide" Target="../notesSlides/notesSlide1.xml"/><Relationship Id="rId7" Type="http://schemas.openxmlformats.org/officeDocument/2006/relationships/image" Target="../media/image5.jpeg"/><Relationship Id="rId12" Type="http://schemas.microsoft.com/office/2007/relationships/hdphoto" Target="../media/hdphoto1.wdp"/><Relationship Id="rId17" Type="http://schemas.openxmlformats.org/officeDocument/2006/relationships/image" Target="../media/image14.jpeg"/><Relationship Id="rId2" Type="http://schemas.openxmlformats.org/officeDocument/2006/relationships/slideLayout" Target="../slideLayouts/slideLayout2.xml"/><Relationship Id="rId16" Type="http://schemas.openxmlformats.org/officeDocument/2006/relationships/image" Target="../media/image13.png"/><Relationship Id="rId1" Type="http://schemas.openxmlformats.org/officeDocument/2006/relationships/themeOverride" Target="../theme/themeOverride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jpeg"/><Relationship Id="rId15" Type="http://schemas.openxmlformats.org/officeDocument/2006/relationships/image" Target="../media/image12.png"/><Relationship Id="rId10" Type="http://schemas.openxmlformats.org/officeDocument/2006/relationships/image" Target="../media/image8.png"/><Relationship Id="rId4" Type="http://schemas.openxmlformats.org/officeDocument/2006/relationships/image" Target="../media/image2.jpeg"/><Relationship Id="rId9" Type="http://schemas.openxmlformats.org/officeDocument/2006/relationships/image" Target="../media/image7.jpe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9133" y="377278"/>
            <a:ext cx="6781801" cy="3390900"/>
          </a:xfrm>
          <a:prstGeom prst="rect">
            <a:avLst/>
          </a:prstGeom>
        </p:spPr>
      </p:pic>
      <p:sp>
        <p:nvSpPr>
          <p:cNvPr id="14337" name="Rectangle 12"/>
          <p:cNvSpPr>
            <a:spLocks noChangeArrowheads="1"/>
          </p:cNvSpPr>
          <p:nvPr/>
        </p:nvSpPr>
        <p:spPr bwMode="auto">
          <a:xfrm>
            <a:off x="0" y="-1438057"/>
            <a:ext cx="827362" cy="2876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09648" tIns="204823" rIns="409648" bIns="204823" anchor="ctr">
            <a:spAutoFit/>
          </a:bodyPr>
          <a:lstStyle/>
          <a:p>
            <a:pPr defTabSz="4095852" eaLnBrk="0" hangingPunct="0"/>
            <a:br>
              <a:rPr lang="en-US" sz="8001"/>
            </a:br>
            <a:endParaRPr lang="en-US" sz="8001"/>
          </a:p>
        </p:txBody>
      </p:sp>
      <p:sp>
        <p:nvSpPr>
          <p:cNvPr id="14338" name="TextBox 71"/>
          <p:cNvSpPr txBox="1">
            <a:spLocks noChangeArrowheads="1"/>
          </p:cNvSpPr>
          <p:nvPr/>
        </p:nvSpPr>
        <p:spPr bwMode="auto">
          <a:xfrm>
            <a:off x="5608146" y="788108"/>
            <a:ext cx="35076911" cy="2326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9728" tIns="54864" rIns="109728" bIns="54864" anchor="t">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a:r>
              <a:rPr lang="en-US" sz="7200" b="1" dirty="0">
                <a:latin typeface="Arial Narrow"/>
                <a:ea typeface="ＭＳ Ｐゴシック"/>
                <a:cs typeface="Arial"/>
              </a:rPr>
              <a:t>Expected Pressing Success (</a:t>
            </a:r>
            <a:r>
              <a:rPr lang="en-US" sz="7200" b="1" dirty="0" err="1">
                <a:latin typeface="Arial Narrow"/>
                <a:ea typeface="ＭＳ Ｐゴシック"/>
                <a:cs typeface="Arial"/>
              </a:rPr>
              <a:t>xPS</a:t>
            </a:r>
            <a:r>
              <a:rPr lang="en-US" sz="7200" b="1" dirty="0">
                <a:latin typeface="Arial Narrow"/>
                <a:ea typeface="ＭＳ Ｐゴシック"/>
                <a:cs typeface="Arial"/>
              </a:rPr>
              <a:t>)</a:t>
            </a:r>
            <a:endParaRPr lang="en-US" b="1" dirty="0">
              <a:latin typeface="Arial Narrow"/>
              <a:ea typeface="ＭＳ Ｐゴシック"/>
            </a:endParaRPr>
          </a:p>
          <a:p>
            <a:pPr algn="ctr" eaLnBrk="1" hangingPunct="1"/>
            <a:r>
              <a:rPr lang="en-US" sz="3600" dirty="0">
                <a:latin typeface="Arial Narrow"/>
                <a:ea typeface="ＭＳ Ｐゴシック"/>
                <a:cs typeface="Arial Narrow" panose="020B0604020202020204" pitchFamily="34" charset="0"/>
              </a:rPr>
              <a:t>  </a:t>
            </a:r>
            <a:r>
              <a:rPr lang="en-US" sz="3600" baseline="30000" dirty="0">
                <a:latin typeface="Arial Narrow"/>
                <a:ea typeface="ＭＳ Ｐゴシック"/>
                <a:cs typeface="Arial Narrow" panose="020B0604020202020204" pitchFamily="34" charset="0"/>
              </a:rPr>
              <a:t>1</a:t>
            </a:r>
            <a:r>
              <a:rPr lang="en-US" sz="3600" dirty="0">
                <a:latin typeface="Arial Narrow"/>
                <a:ea typeface="ＭＳ Ｐゴシック"/>
                <a:cs typeface="Arial Narrow" panose="020B0604020202020204" pitchFamily="34" charset="0"/>
              </a:rPr>
              <a:t>J. Kakka, </a:t>
            </a:r>
            <a:r>
              <a:rPr lang="en-US" sz="3600" baseline="30000" dirty="0">
                <a:latin typeface="Arial Narrow"/>
                <a:ea typeface="ＭＳ Ｐゴシック"/>
                <a:cs typeface="Arial Narrow" panose="020B0604020202020204" pitchFamily="34" charset="0"/>
              </a:rPr>
              <a:t>1</a:t>
            </a:r>
            <a:r>
              <a:rPr lang="en-US" sz="3600" dirty="0">
                <a:latin typeface="Arial Narrow"/>
                <a:ea typeface="ＭＳ Ｐゴシック"/>
                <a:cs typeface="Arial Narrow" panose="020B0604020202020204" pitchFamily="34" charset="0"/>
              </a:rPr>
              <a:t>P.Sunkavalli.</a:t>
            </a:r>
          </a:p>
          <a:p>
            <a:pPr algn="ctr" eaLnBrk="1" hangingPunct="1"/>
            <a:r>
              <a:rPr lang="en-US" sz="3600" baseline="30000" dirty="0">
                <a:latin typeface="Arial Narrow" panose="020B0604020202020204" pitchFamily="34" charset="0"/>
                <a:cs typeface="Arial Narrow" panose="020B0604020202020204" pitchFamily="34" charset="0"/>
              </a:rPr>
              <a:t>1</a:t>
            </a:r>
            <a:r>
              <a:rPr lang="en-US" sz="3600" dirty="0">
                <a:latin typeface="Arial Narrow" panose="020B0604020202020204" pitchFamily="34" charset="0"/>
                <a:cs typeface="Arial Narrow" panose="020B0604020202020204" pitchFamily="34" charset="0"/>
              </a:rPr>
              <a:t>Master of Professional Studies – Data Analytics,, </a:t>
            </a:r>
            <a:r>
              <a:rPr lang="en-US" sz="3600" baseline="30000" dirty="0">
                <a:latin typeface="Arial Narrow" panose="020B0604020202020204" pitchFamily="34" charset="0"/>
                <a:cs typeface="Arial Narrow" panose="020B0604020202020204" pitchFamily="34" charset="0"/>
              </a:rPr>
              <a:t>5</a:t>
            </a:r>
            <a:r>
              <a:rPr lang="en-US" sz="3600" dirty="0">
                <a:latin typeface="Arial Narrow" panose="020B0604020202020204" pitchFamily="34" charset="0"/>
                <a:cs typeface="Arial Narrow" panose="020B0604020202020204" pitchFamily="34" charset="0"/>
              </a:rPr>
              <a:t>Penn State Great Valley School of Graduate Professional Studies, Penn State University, Malvern, PA 19355</a:t>
            </a:r>
          </a:p>
        </p:txBody>
      </p:sp>
      <p:sp>
        <p:nvSpPr>
          <p:cNvPr id="4" name="Rectangle 3"/>
          <p:cNvSpPr/>
          <p:nvPr/>
        </p:nvSpPr>
        <p:spPr>
          <a:xfrm>
            <a:off x="457200" y="457200"/>
            <a:ext cx="42976800" cy="32004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13" name="Straight Connector 12">
            <a:extLst>
              <a:ext uri="{FF2B5EF4-FFF2-40B4-BE49-F238E27FC236}">
                <a16:creationId xmlns:a16="http://schemas.microsoft.com/office/drawing/2014/main" id="{2B6936B3-E473-1C78-62B8-5E161C46216C}"/>
              </a:ext>
            </a:extLst>
          </p:cNvPr>
          <p:cNvCxnSpPr>
            <a:cxnSpLocks/>
          </p:cNvCxnSpPr>
          <p:nvPr/>
        </p:nvCxnSpPr>
        <p:spPr>
          <a:xfrm>
            <a:off x="413681" y="3463378"/>
            <a:ext cx="43020319" cy="0"/>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14348" name="Group 14347">
            <a:extLst>
              <a:ext uri="{FF2B5EF4-FFF2-40B4-BE49-F238E27FC236}">
                <a16:creationId xmlns:a16="http://schemas.microsoft.com/office/drawing/2014/main" id="{1AF2AB58-F018-E68F-528F-AD9F481FD769}"/>
              </a:ext>
            </a:extLst>
          </p:cNvPr>
          <p:cNvGrpSpPr/>
          <p:nvPr/>
        </p:nvGrpSpPr>
        <p:grpSpPr>
          <a:xfrm>
            <a:off x="733805" y="3821363"/>
            <a:ext cx="10439994" cy="15465479"/>
            <a:chOff x="692219" y="4912712"/>
            <a:chExt cx="10439994" cy="4802151"/>
          </a:xfrm>
        </p:grpSpPr>
        <p:sp>
          <p:nvSpPr>
            <p:cNvPr id="18" name="Rounded Rectangle 17">
              <a:extLst>
                <a:ext uri="{FF2B5EF4-FFF2-40B4-BE49-F238E27FC236}">
                  <a16:creationId xmlns:a16="http://schemas.microsoft.com/office/drawing/2014/main" id="{24057600-65AA-9D7A-C137-7F52144410B2}"/>
                </a:ext>
              </a:extLst>
            </p:cNvPr>
            <p:cNvSpPr/>
            <p:nvPr/>
          </p:nvSpPr>
          <p:spPr>
            <a:xfrm>
              <a:off x="692219" y="5013715"/>
              <a:ext cx="10439994" cy="4701148"/>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7CFE8A5-18BE-2C3D-C7E1-ECDBBD76816A}"/>
                </a:ext>
              </a:extLst>
            </p:cNvPr>
            <p:cNvSpPr txBox="1"/>
            <p:nvPr/>
          </p:nvSpPr>
          <p:spPr>
            <a:xfrm>
              <a:off x="3596210" y="4912712"/>
              <a:ext cx="5110203" cy="200691"/>
            </a:xfrm>
            <a:prstGeom prst="rect">
              <a:avLst/>
            </a:prstGeom>
            <a:solidFill>
              <a:schemeClr val="bg1"/>
            </a:solidFill>
          </p:spPr>
          <p:txBody>
            <a:bodyPr wrap="square" rtlCol="0">
              <a:spAutoFit/>
            </a:bodyPr>
            <a:lstStyle/>
            <a:p>
              <a:pPr algn="ctr"/>
              <a:r>
                <a:rPr lang="en-US" sz="3600" b="1" dirty="0">
                  <a:solidFill>
                    <a:schemeClr val="tx2"/>
                  </a:solidFill>
                  <a:latin typeface="Arial Narrow" panose="020B0604020202020204" pitchFamily="34" charset="0"/>
                  <a:cs typeface="Arial Narrow" panose="020B0604020202020204" pitchFamily="34" charset="0"/>
                </a:rPr>
                <a:t>WHAT IS PRESSING ?</a:t>
              </a:r>
            </a:p>
          </p:txBody>
        </p:sp>
        <p:sp>
          <p:nvSpPr>
            <p:cNvPr id="14450" name="TextBox 14449">
              <a:extLst>
                <a:ext uri="{FF2B5EF4-FFF2-40B4-BE49-F238E27FC236}">
                  <a16:creationId xmlns:a16="http://schemas.microsoft.com/office/drawing/2014/main" id="{2A60B36B-EE1D-3955-A245-A68F68667FF5}"/>
                </a:ext>
              </a:extLst>
            </p:cNvPr>
            <p:cNvSpPr txBox="1"/>
            <p:nvPr/>
          </p:nvSpPr>
          <p:spPr>
            <a:xfrm>
              <a:off x="1192633" y="5139301"/>
              <a:ext cx="9532718" cy="1251928"/>
            </a:xfrm>
            <a:prstGeom prst="rect">
              <a:avLst/>
            </a:prstGeom>
            <a:noFill/>
          </p:spPr>
          <p:txBody>
            <a:bodyPr wrap="square">
              <a:spAutoFit/>
            </a:bodyPr>
            <a:lstStyle/>
            <a:p>
              <a:pPr algn="just"/>
              <a:r>
                <a:rPr lang="en-US" sz="3200" b="0" i="0" u="none" strike="noStrike" dirty="0">
                  <a:solidFill>
                    <a:srgbClr val="000000"/>
                  </a:solidFill>
                  <a:effectLst/>
                  <a:latin typeface="Arial Narrow" panose="020B0606020202030204" pitchFamily="34" charset="0"/>
                </a:rPr>
                <a:t>Pressing, a coordinated defensive strategy where a team collectively pressures the ball carrier to force mistakes and regain possession, has evolved significantly. Originating in 1934 with hockey coach Thomas Patrick Gorman, it was later adopted by Dutch teams in the 1970s under "Total Football." This approach, described by Dutch Manager </a:t>
              </a:r>
              <a:r>
                <a:rPr lang="en-US" sz="3200" b="0" i="0" u="none" strike="noStrike" dirty="0" err="1">
                  <a:solidFill>
                    <a:srgbClr val="000000"/>
                  </a:solidFill>
                  <a:effectLst/>
                  <a:latin typeface="Arial Narrow" panose="020B0606020202030204" pitchFamily="34" charset="0"/>
                </a:rPr>
                <a:t>Rinus</a:t>
              </a:r>
              <a:r>
                <a:rPr lang="en-US" sz="3200" b="0" i="0" u="none" strike="noStrike" dirty="0">
                  <a:solidFill>
                    <a:srgbClr val="000000"/>
                  </a:solidFill>
                  <a:effectLst/>
                  <a:latin typeface="Arial Narrow" panose="020B0606020202030204" pitchFamily="34" charset="0"/>
                </a:rPr>
                <a:t> Michels, involved all outfield players pressing forward even without the ball, creating a chaotic and dynamic style of play.</a:t>
              </a:r>
              <a:endParaRPr lang="en-US" sz="3200" dirty="0">
                <a:latin typeface="Arial Narrow" panose="020B0606020202030204" pitchFamily="34" charset="0"/>
                <a:cs typeface="Arial Narrow" panose="020B0604020202020204" pitchFamily="34" charset="0"/>
                <a:sym typeface="Wingdings" pitchFamily="2" charset="2"/>
              </a:endParaRPr>
            </a:p>
          </p:txBody>
        </p:sp>
      </p:grpSp>
      <p:grpSp>
        <p:nvGrpSpPr>
          <p:cNvPr id="2" name="Group 1">
            <a:extLst>
              <a:ext uri="{FF2B5EF4-FFF2-40B4-BE49-F238E27FC236}">
                <a16:creationId xmlns:a16="http://schemas.microsoft.com/office/drawing/2014/main" id="{DFE1F19C-BC11-E5C2-FFAC-78D5F123A12F}"/>
              </a:ext>
            </a:extLst>
          </p:cNvPr>
          <p:cNvGrpSpPr/>
          <p:nvPr/>
        </p:nvGrpSpPr>
        <p:grpSpPr>
          <a:xfrm>
            <a:off x="11645428" y="14995758"/>
            <a:ext cx="18720846" cy="16086018"/>
            <a:chOff x="11574859" y="5006984"/>
            <a:chExt cx="18627923" cy="10794179"/>
          </a:xfrm>
        </p:grpSpPr>
        <p:sp>
          <p:nvSpPr>
            <p:cNvPr id="14368" name="Rounded Rectangle 14367">
              <a:extLst>
                <a:ext uri="{FF2B5EF4-FFF2-40B4-BE49-F238E27FC236}">
                  <a16:creationId xmlns:a16="http://schemas.microsoft.com/office/drawing/2014/main" id="{CF39F54A-54EC-32BA-A6C5-CC17610704A2}"/>
                </a:ext>
              </a:extLst>
            </p:cNvPr>
            <p:cNvSpPr/>
            <p:nvPr/>
          </p:nvSpPr>
          <p:spPr>
            <a:xfrm>
              <a:off x="11574859" y="5214659"/>
              <a:ext cx="18627923" cy="10586504"/>
            </a:xfrm>
            <a:prstGeom prst="roundRect">
              <a:avLst>
                <a:gd name="adj" fmla="val 9366"/>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69" name="TextBox 14368">
              <a:extLst>
                <a:ext uri="{FF2B5EF4-FFF2-40B4-BE49-F238E27FC236}">
                  <a16:creationId xmlns:a16="http://schemas.microsoft.com/office/drawing/2014/main" id="{0E3277F3-5243-352D-AD96-337AB71CC58D}"/>
                </a:ext>
              </a:extLst>
            </p:cNvPr>
            <p:cNvSpPr txBox="1"/>
            <p:nvPr/>
          </p:nvSpPr>
          <p:spPr>
            <a:xfrm>
              <a:off x="16387929" y="5006984"/>
              <a:ext cx="8835835" cy="463540"/>
            </a:xfrm>
            <a:prstGeom prst="rect">
              <a:avLst/>
            </a:prstGeom>
            <a:solidFill>
              <a:schemeClr val="bg1"/>
            </a:solidFill>
          </p:spPr>
          <p:txBody>
            <a:bodyPr wrap="square" rtlCol="0">
              <a:spAutoFit/>
            </a:bodyPr>
            <a:lstStyle/>
            <a:p>
              <a:pPr algn="ctr"/>
              <a:r>
                <a:rPr lang="en-US" sz="3600" b="1" dirty="0">
                  <a:solidFill>
                    <a:schemeClr val="tx2"/>
                  </a:solidFill>
                  <a:latin typeface="Arial Narrow" panose="020B0604020202020204" pitchFamily="34" charset="0"/>
                  <a:cs typeface="Arial Narrow" panose="020B0604020202020204" pitchFamily="34" charset="0"/>
                </a:rPr>
                <a:t>PREDICTING WHEN TO TRIGGER A PRESS</a:t>
              </a:r>
            </a:p>
          </p:txBody>
        </p:sp>
        <p:sp>
          <p:nvSpPr>
            <p:cNvPr id="14382" name="TextBox 14381">
              <a:extLst>
                <a:ext uri="{FF2B5EF4-FFF2-40B4-BE49-F238E27FC236}">
                  <a16:creationId xmlns:a16="http://schemas.microsoft.com/office/drawing/2014/main" id="{7301F867-9F66-3242-ED5C-A7429D211B21}"/>
                </a:ext>
              </a:extLst>
            </p:cNvPr>
            <p:cNvSpPr txBox="1"/>
            <p:nvPr/>
          </p:nvSpPr>
          <p:spPr>
            <a:xfrm>
              <a:off x="16922878" y="5493467"/>
              <a:ext cx="7184137" cy="351096"/>
            </a:xfrm>
            <a:prstGeom prst="rect">
              <a:avLst/>
            </a:prstGeom>
            <a:noFill/>
          </p:spPr>
          <p:txBody>
            <a:bodyPr wrap="square">
              <a:spAutoFit/>
            </a:bodyPr>
            <a:lstStyle/>
            <a:p>
              <a:pPr algn="ctr"/>
              <a:r>
                <a:rPr lang="en-US" sz="2800" b="1" dirty="0">
                  <a:solidFill>
                    <a:srgbClr val="FF0000"/>
                  </a:solidFill>
                  <a:latin typeface="Arial Narrow" panose="020B0604020202020204" pitchFamily="34" charset="0"/>
                </a:rPr>
                <a:t>DATA PREPROCESSING</a:t>
              </a:r>
              <a:endParaRPr lang="en-US" sz="2800" b="1" dirty="0">
                <a:solidFill>
                  <a:srgbClr val="FF0000"/>
                </a:solidFill>
                <a:latin typeface="Arial Narrow" panose="020B0604020202020204" pitchFamily="34" charset="0"/>
                <a:sym typeface="Wingdings" pitchFamily="2" charset="2"/>
              </a:endParaRPr>
            </a:p>
          </p:txBody>
        </p:sp>
        <p:sp>
          <p:nvSpPr>
            <p:cNvPr id="14401" name="TextBox 14400">
              <a:extLst>
                <a:ext uri="{FF2B5EF4-FFF2-40B4-BE49-F238E27FC236}">
                  <a16:creationId xmlns:a16="http://schemas.microsoft.com/office/drawing/2014/main" id="{5F7EAD28-197E-24AE-D902-2C2CFAE564D7}"/>
                </a:ext>
              </a:extLst>
            </p:cNvPr>
            <p:cNvSpPr txBox="1"/>
            <p:nvPr/>
          </p:nvSpPr>
          <p:spPr>
            <a:xfrm>
              <a:off x="11866451" y="5684612"/>
              <a:ext cx="18054027" cy="2576896"/>
            </a:xfrm>
            <a:prstGeom prst="rect">
              <a:avLst/>
            </a:prstGeom>
            <a:noFill/>
          </p:spPr>
          <p:txBody>
            <a:bodyPr wrap="square" lIns="91440" tIns="45720" rIns="91440" bIns="45720" anchor="t">
              <a:spAutoFit/>
            </a:bodyPr>
            <a:lstStyle/>
            <a:p>
              <a:pPr algn="just">
                <a:lnSpc>
                  <a:spcPct val="110000"/>
                </a:lnSpc>
                <a:spcBef>
                  <a:spcPts val="0"/>
                </a:spcBef>
                <a:spcAft>
                  <a:spcPts val="0"/>
                </a:spcAft>
              </a:pPr>
              <a:r>
                <a:rPr lang="en-US" sz="3200" b="1" dirty="0">
                  <a:solidFill>
                    <a:srgbClr val="000000"/>
                  </a:solidFill>
                  <a:effectLst/>
                  <a:latin typeface="Arial Narrow"/>
                  <a:ea typeface="Arial" panose="020B0604020202020204" pitchFamily="34" charset="0"/>
                  <a:cs typeface="Arial"/>
                </a:rPr>
                <a:t>Data Extraction</a:t>
              </a:r>
              <a:r>
                <a:rPr lang="en-US" sz="3200" dirty="0">
                  <a:solidFill>
                    <a:srgbClr val="000000"/>
                  </a:solidFill>
                  <a:effectLst/>
                  <a:latin typeface="Arial Narrow"/>
                  <a:ea typeface="Arial" panose="020B0604020202020204" pitchFamily="34" charset="0"/>
                  <a:cs typeface="Arial"/>
                </a:rPr>
                <a:t>: </a:t>
              </a:r>
            </a:p>
            <a:p>
              <a:pPr marL="457200" indent="-457200" algn="just">
                <a:lnSpc>
                  <a:spcPct val="110000"/>
                </a:lnSpc>
                <a:spcBef>
                  <a:spcPts val="0"/>
                </a:spcBef>
                <a:spcAft>
                  <a:spcPts val="0"/>
                </a:spcAft>
                <a:buFont typeface="Arial" panose="020B0604020202020204" pitchFamily="34" charset="0"/>
                <a:buChar char="•"/>
              </a:pPr>
              <a:r>
                <a:rPr lang="en-US" sz="3200" dirty="0">
                  <a:solidFill>
                    <a:srgbClr val="000000"/>
                  </a:solidFill>
                  <a:latin typeface="Arial Narrow"/>
                  <a:ea typeface="Arial" panose="020B0604020202020204" pitchFamily="34" charset="0"/>
                  <a:cs typeface="Arial"/>
                </a:rPr>
                <a:t>For the classical ML approach where we focused on explainability the use of feature extraction was emphasized. Using the work already done on quantifying pressure and applying some vector knowledge we created a metric called Pressing Intensity.</a:t>
              </a:r>
            </a:p>
            <a:p>
              <a:pPr marL="457200" indent="-457200" algn="just">
                <a:lnSpc>
                  <a:spcPct val="110000"/>
                </a:lnSpc>
                <a:spcBef>
                  <a:spcPts val="0"/>
                </a:spcBef>
                <a:spcAft>
                  <a:spcPts val="0"/>
                </a:spcAft>
                <a:buFont typeface="Arial" panose="020B0604020202020204" pitchFamily="34" charset="0"/>
                <a:buChar char="•"/>
              </a:pPr>
              <a:endParaRPr lang="en-US" sz="3200" dirty="0">
                <a:solidFill>
                  <a:srgbClr val="000000"/>
                </a:solidFill>
                <a:latin typeface="Arial Narrow"/>
                <a:ea typeface="Arial" panose="020B0604020202020204" pitchFamily="34" charset="0"/>
                <a:cs typeface="Arial"/>
              </a:endParaRPr>
            </a:p>
            <a:p>
              <a:pPr marL="457200" indent="-457200" algn="just">
                <a:lnSpc>
                  <a:spcPct val="110000"/>
                </a:lnSpc>
                <a:spcBef>
                  <a:spcPts val="0"/>
                </a:spcBef>
                <a:spcAft>
                  <a:spcPts val="0"/>
                </a:spcAft>
                <a:buFont typeface="Arial" panose="020B0604020202020204" pitchFamily="34" charset="0"/>
                <a:buChar char="•"/>
              </a:pPr>
              <a:r>
                <a:rPr lang="en-US" sz="3200" dirty="0">
                  <a:solidFill>
                    <a:srgbClr val="000000"/>
                  </a:solidFill>
                  <a:latin typeface="Arial Narrow"/>
                  <a:ea typeface="Arial" panose="020B0604020202020204" pitchFamily="34" charset="0"/>
                  <a:cs typeface="Arial"/>
                </a:rPr>
                <a:t>For the CNN-based approach we transformed the 360-event data into images identifying different teams with colors and triangles to understand space and aid convolution.</a:t>
              </a:r>
            </a:p>
          </p:txBody>
        </p:sp>
        <p:sp>
          <p:nvSpPr>
            <p:cNvPr id="14409" name="TextBox 14408">
              <a:extLst>
                <a:ext uri="{FF2B5EF4-FFF2-40B4-BE49-F238E27FC236}">
                  <a16:creationId xmlns:a16="http://schemas.microsoft.com/office/drawing/2014/main" id="{D9972B16-447A-B0ED-8D05-48E8870FB5AC}"/>
                </a:ext>
              </a:extLst>
            </p:cNvPr>
            <p:cNvSpPr txBox="1"/>
            <p:nvPr/>
          </p:nvSpPr>
          <p:spPr>
            <a:xfrm>
              <a:off x="17566295" y="10722630"/>
              <a:ext cx="6732938" cy="375246"/>
            </a:xfrm>
            <a:prstGeom prst="rect">
              <a:avLst/>
            </a:prstGeom>
            <a:noFill/>
          </p:spPr>
          <p:txBody>
            <a:bodyPr wrap="square">
              <a:spAutoFit/>
            </a:bodyPr>
            <a:lstStyle/>
            <a:p>
              <a:pPr algn="ctr"/>
              <a:r>
                <a:rPr lang="en-US" sz="2800" b="1" dirty="0">
                  <a:solidFill>
                    <a:srgbClr val="FF0000"/>
                  </a:solidFill>
                  <a:latin typeface="Arial Narrow" panose="020B0604020202020204" pitchFamily="34" charset="0"/>
                  <a:cs typeface="Arial Narrow" panose="020B0604020202020204" pitchFamily="34" charset="0"/>
                  <a:sym typeface="Wingdings" pitchFamily="2" charset="2"/>
                </a:rPr>
                <a:t>SPATIO-TEMPORAL APPROACH CNN</a:t>
              </a:r>
            </a:p>
          </p:txBody>
        </p:sp>
        <p:sp>
          <p:nvSpPr>
            <p:cNvPr id="14378" name="TextBox 14377">
              <a:extLst>
                <a:ext uri="{FF2B5EF4-FFF2-40B4-BE49-F238E27FC236}">
                  <a16:creationId xmlns:a16="http://schemas.microsoft.com/office/drawing/2014/main" id="{8ED812EF-18BC-F916-7635-B006C2D37E0A}"/>
                </a:ext>
              </a:extLst>
            </p:cNvPr>
            <p:cNvSpPr txBox="1"/>
            <p:nvPr/>
          </p:nvSpPr>
          <p:spPr>
            <a:xfrm>
              <a:off x="17903017" y="8409288"/>
              <a:ext cx="5971607" cy="684272"/>
            </a:xfrm>
            <a:prstGeom prst="rect">
              <a:avLst/>
            </a:prstGeom>
            <a:noFill/>
          </p:spPr>
          <p:txBody>
            <a:bodyPr wrap="square">
              <a:spAutoFit/>
            </a:bodyPr>
            <a:lstStyle/>
            <a:p>
              <a:pPr algn="ctr"/>
              <a:r>
                <a:rPr lang="en-US" sz="2800" b="1" dirty="0">
                  <a:solidFill>
                    <a:srgbClr val="FF0000"/>
                  </a:solidFill>
                  <a:latin typeface="Arial Narrow" panose="020B0604020202020204" pitchFamily="34" charset="0"/>
                  <a:cs typeface="Arial Narrow" panose="020B0604020202020204" pitchFamily="34" charset="0"/>
                  <a:sym typeface="Wingdings" pitchFamily="2" charset="2"/>
                </a:rPr>
                <a:t>CLASSIC MACHINE LEARNING</a:t>
              </a:r>
            </a:p>
            <a:p>
              <a:pPr algn="ctr"/>
              <a:endParaRPr lang="en-US" sz="2800" b="1" dirty="0">
                <a:solidFill>
                  <a:srgbClr val="FF0000"/>
                </a:solidFill>
                <a:latin typeface="Arial Narrow" panose="020B0604020202020204" pitchFamily="34" charset="0"/>
                <a:cs typeface="Arial Narrow" panose="020B0604020202020204" pitchFamily="34" charset="0"/>
                <a:sym typeface="Wingdings" pitchFamily="2" charset="2"/>
              </a:endParaRPr>
            </a:p>
          </p:txBody>
        </p:sp>
      </p:grpSp>
      <p:grpSp>
        <p:nvGrpSpPr>
          <p:cNvPr id="14525" name="Group 14524">
            <a:extLst>
              <a:ext uri="{FF2B5EF4-FFF2-40B4-BE49-F238E27FC236}">
                <a16:creationId xmlns:a16="http://schemas.microsoft.com/office/drawing/2014/main" id="{FB8A829C-309A-D671-C999-F65C2213CAF8}"/>
              </a:ext>
            </a:extLst>
          </p:cNvPr>
          <p:cNvGrpSpPr/>
          <p:nvPr/>
        </p:nvGrpSpPr>
        <p:grpSpPr>
          <a:xfrm>
            <a:off x="723397" y="19950999"/>
            <a:ext cx="10472135" cy="11751028"/>
            <a:chOff x="11266993" y="28358800"/>
            <a:chExt cx="7394639" cy="4962605"/>
          </a:xfrm>
        </p:grpSpPr>
        <p:sp>
          <p:nvSpPr>
            <p:cNvPr id="14507" name="Rounded Rectangle 14506">
              <a:extLst>
                <a:ext uri="{FF2B5EF4-FFF2-40B4-BE49-F238E27FC236}">
                  <a16:creationId xmlns:a16="http://schemas.microsoft.com/office/drawing/2014/main" id="{63B25E0C-98A9-CB9C-CF5C-93E469F664F1}"/>
                </a:ext>
              </a:extLst>
            </p:cNvPr>
            <p:cNvSpPr/>
            <p:nvPr/>
          </p:nvSpPr>
          <p:spPr>
            <a:xfrm>
              <a:off x="11266993" y="28454857"/>
              <a:ext cx="7394639" cy="4866548"/>
            </a:xfrm>
            <a:prstGeom prst="roundRect">
              <a:avLst>
                <a:gd name="adj" fmla="val 22265"/>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21" name="TextBox 14520">
              <a:extLst>
                <a:ext uri="{FF2B5EF4-FFF2-40B4-BE49-F238E27FC236}">
                  <a16:creationId xmlns:a16="http://schemas.microsoft.com/office/drawing/2014/main" id="{8996396D-357F-15D5-43D6-F482A3A4B998}"/>
                </a:ext>
              </a:extLst>
            </p:cNvPr>
            <p:cNvSpPr txBox="1"/>
            <p:nvPr/>
          </p:nvSpPr>
          <p:spPr>
            <a:xfrm>
              <a:off x="12170798" y="28358800"/>
              <a:ext cx="5575592" cy="272954"/>
            </a:xfrm>
            <a:prstGeom prst="rect">
              <a:avLst/>
            </a:prstGeom>
            <a:solidFill>
              <a:schemeClr val="bg1"/>
            </a:solidFill>
          </p:spPr>
          <p:txBody>
            <a:bodyPr wrap="square" rtlCol="0">
              <a:spAutoFit/>
            </a:bodyPr>
            <a:lstStyle/>
            <a:p>
              <a:pPr algn="ctr"/>
              <a:r>
                <a:rPr lang="en-US" sz="3600" b="1" dirty="0">
                  <a:solidFill>
                    <a:schemeClr val="tx2"/>
                  </a:solidFill>
                  <a:latin typeface="Arial Narrow" panose="020B0604020202020204" pitchFamily="34" charset="0"/>
                  <a:cs typeface="Arial Narrow" panose="020B0604020202020204" pitchFamily="34" charset="0"/>
                </a:rPr>
                <a:t>WHY MEASURE PRESSING SUCCESS?</a:t>
              </a:r>
            </a:p>
          </p:txBody>
        </p:sp>
        <p:sp>
          <p:nvSpPr>
            <p:cNvPr id="14522" name="TextBox 14521">
              <a:extLst>
                <a:ext uri="{FF2B5EF4-FFF2-40B4-BE49-F238E27FC236}">
                  <a16:creationId xmlns:a16="http://schemas.microsoft.com/office/drawing/2014/main" id="{C7AFE187-5341-3371-5F62-C01E267512EE}"/>
                </a:ext>
              </a:extLst>
            </p:cNvPr>
            <p:cNvSpPr txBox="1"/>
            <p:nvPr/>
          </p:nvSpPr>
          <p:spPr>
            <a:xfrm>
              <a:off x="11679590" y="28830797"/>
              <a:ext cx="6699161" cy="1999703"/>
            </a:xfrm>
            <a:prstGeom prst="rect">
              <a:avLst/>
            </a:prstGeom>
            <a:noFill/>
          </p:spPr>
          <p:txBody>
            <a:bodyPr wrap="square">
              <a:spAutoFit/>
            </a:bodyPr>
            <a:lstStyle/>
            <a:p>
              <a:pPr marR="0" algn="just">
                <a:lnSpc>
                  <a:spcPct val="110000"/>
                </a:lnSpc>
                <a:spcBef>
                  <a:spcPts val="0"/>
                </a:spcBef>
                <a:spcAft>
                  <a:spcPts val="0"/>
                </a:spcAft>
              </a:pPr>
              <a:r>
                <a:rPr lang="en-US" sz="3200" dirty="0">
                  <a:latin typeface="Arial Narrow" panose="020B0606020202030204" pitchFamily="34" charset="0"/>
                  <a:cs typeface="Arial Narrow" panose="020B0604020202020204" pitchFamily="34" charset="0"/>
                  <a:sym typeface="Wingdings" pitchFamily="2" charset="2"/>
                </a:rPr>
                <a:t>While Expected Goals (</a:t>
              </a:r>
              <a:r>
                <a:rPr lang="en-US" sz="3200" dirty="0" err="1">
                  <a:latin typeface="Arial Narrow" panose="020B0606020202030204" pitchFamily="34" charset="0"/>
                  <a:cs typeface="Arial Narrow" panose="020B0604020202020204" pitchFamily="34" charset="0"/>
                  <a:sym typeface="Wingdings" pitchFamily="2" charset="2"/>
                </a:rPr>
                <a:t>xG</a:t>
              </a:r>
              <a:r>
                <a:rPr lang="en-US" sz="3200" dirty="0">
                  <a:latin typeface="Arial Narrow" panose="020B0606020202030204" pitchFamily="34" charset="0"/>
                  <a:cs typeface="Arial Narrow" panose="020B0604020202020204" pitchFamily="34" charset="0"/>
                  <a:sym typeface="Wingdings" pitchFamily="2" charset="2"/>
                </a:rPr>
                <a:t>) metrics have transformed attacking analysis by quantifying scoring chances, similar metrics for pressing are lacking. Pressing is a complex defensive strategy where team coordination disrupts opponents and regains possession. Measuring pressing success with metrics like press recoveries and pressure success rates is essential for understanding and improving defensive performance, just as </a:t>
              </a:r>
              <a:r>
                <a:rPr lang="en-US" sz="3200" dirty="0" err="1">
                  <a:latin typeface="Arial Narrow" panose="020B0606020202030204" pitchFamily="34" charset="0"/>
                  <a:cs typeface="Arial Narrow" panose="020B0604020202020204" pitchFamily="34" charset="0"/>
                  <a:sym typeface="Wingdings" pitchFamily="2" charset="2"/>
                </a:rPr>
                <a:t>xG</a:t>
              </a:r>
              <a:r>
                <a:rPr lang="en-US" sz="3200" dirty="0">
                  <a:latin typeface="Arial Narrow" panose="020B0606020202030204" pitchFamily="34" charset="0"/>
                  <a:cs typeface="Arial Narrow" panose="020B0604020202020204" pitchFamily="34" charset="0"/>
                  <a:sym typeface="Wingdings" pitchFamily="2" charset="2"/>
                </a:rPr>
                <a:t> does for attack.</a:t>
              </a:r>
              <a:endParaRPr lang="en-US" sz="3200" u="sng" dirty="0">
                <a:latin typeface="Arial Narrow" panose="020B0606020202030204" pitchFamily="34" charset="0"/>
                <a:cs typeface="Arial Narrow" panose="020B0604020202020204" pitchFamily="34" charset="0"/>
                <a:sym typeface="Wingdings" pitchFamily="2" charset="2"/>
              </a:endParaRPr>
            </a:p>
          </p:txBody>
        </p:sp>
      </p:grpSp>
      <p:grpSp>
        <p:nvGrpSpPr>
          <p:cNvPr id="14526" name="Group 14525">
            <a:extLst>
              <a:ext uri="{FF2B5EF4-FFF2-40B4-BE49-F238E27FC236}">
                <a16:creationId xmlns:a16="http://schemas.microsoft.com/office/drawing/2014/main" id="{F0241E20-8DC5-94DE-461E-E4DD70B11FAB}"/>
              </a:ext>
            </a:extLst>
          </p:cNvPr>
          <p:cNvGrpSpPr/>
          <p:nvPr/>
        </p:nvGrpSpPr>
        <p:grpSpPr>
          <a:xfrm>
            <a:off x="30886751" y="28770434"/>
            <a:ext cx="12226380" cy="2862593"/>
            <a:chOff x="22064159" y="27644596"/>
            <a:chExt cx="12559313" cy="3378923"/>
          </a:xfrm>
        </p:grpSpPr>
        <p:sp>
          <p:nvSpPr>
            <p:cNvPr id="14519" name="Rounded Rectangle 14518">
              <a:extLst>
                <a:ext uri="{FF2B5EF4-FFF2-40B4-BE49-F238E27FC236}">
                  <a16:creationId xmlns:a16="http://schemas.microsoft.com/office/drawing/2014/main" id="{2DB10F9A-2FC6-1677-5FBB-684BDC9C603B}"/>
                </a:ext>
              </a:extLst>
            </p:cNvPr>
            <p:cNvSpPr/>
            <p:nvPr/>
          </p:nvSpPr>
          <p:spPr>
            <a:xfrm>
              <a:off x="22064159" y="27969966"/>
              <a:ext cx="12559313" cy="3053553"/>
            </a:xfrm>
            <a:prstGeom prst="roundRect">
              <a:avLst>
                <a:gd name="adj" fmla="val 22265"/>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23" name="TextBox 14522">
              <a:extLst>
                <a:ext uri="{FF2B5EF4-FFF2-40B4-BE49-F238E27FC236}">
                  <a16:creationId xmlns:a16="http://schemas.microsoft.com/office/drawing/2014/main" id="{86CD2B5B-D2B4-4A91-45BB-F48BB5D441B8}"/>
                </a:ext>
              </a:extLst>
            </p:cNvPr>
            <p:cNvSpPr txBox="1"/>
            <p:nvPr/>
          </p:nvSpPr>
          <p:spPr>
            <a:xfrm>
              <a:off x="26923216" y="27644596"/>
              <a:ext cx="2841199" cy="762911"/>
            </a:xfrm>
            <a:prstGeom prst="rect">
              <a:avLst/>
            </a:prstGeom>
            <a:solidFill>
              <a:schemeClr val="bg1"/>
            </a:solidFill>
          </p:spPr>
          <p:txBody>
            <a:bodyPr wrap="square" rtlCol="0">
              <a:spAutoFit/>
            </a:bodyPr>
            <a:lstStyle/>
            <a:p>
              <a:pPr algn="ctr"/>
              <a:r>
                <a:rPr lang="en-US" sz="3600" b="1">
                  <a:solidFill>
                    <a:schemeClr val="tx2"/>
                  </a:solidFill>
                  <a:latin typeface="Arial Narrow" panose="020B0604020202020204" pitchFamily="34" charset="0"/>
                  <a:cs typeface="Arial Narrow" panose="020B0604020202020204" pitchFamily="34" charset="0"/>
                </a:rPr>
                <a:t>REFERENCES</a:t>
              </a:r>
            </a:p>
          </p:txBody>
        </p:sp>
        <p:sp>
          <p:nvSpPr>
            <p:cNvPr id="14524" name="TextBox 14523">
              <a:extLst>
                <a:ext uri="{FF2B5EF4-FFF2-40B4-BE49-F238E27FC236}">
                  <a16:creationId xmlns:a16="http://schemas.microsoft.com/office/drawing/2014/main" id="{C12C108F-1AA9-2AC5-86F5-576EB7C10619}"/>
                </a:ext>
              </a:extLst>
            </p:cNvPr>
            <p:cNvSpPr txBox="1"/>
            <p:nvPr/>
          </p:nvSpPr>
          <p:spPr>
            <a:xfrm>
              <a:off x="22361694" y="28136998"/>
              <a:ext cx="11906739" cy="271276"/>
            </a:xfrm>
            <a:prstGeom prst="rect">
              <a:avLst/>
            </a:prstGeom>
            <a:noFill/>
          </p:spPr>
          <p:txBody>
            <a:bodyPr wrap="square">
              <a:spAutoFit/>
            </a:bodyPr>
            <a:lstStyle/>
            <a:p>
              <a:pPr marL="457200" indent="-457200" algn="just">
                <a:buAutoNum type="arabicPeriod"/>
              </a:pPr>
              <a:endParaRPr lang="en-US" sz="2150">
                <a:latin typeface="Arial Narrow" panose="020B0606020202030204" pitchFamily="34" charset="0"/>
                <a:cs typeface="Arial" panose="020B0604020202020204" pitchFamily="34" charset="0"/>
                <a:sym typeface="Wingdings" pitchFamily="2" charset="2"/>
              </a:endParaRPr>
            </a:p>
          </p:txBody>
        </p:sp>
      </p:grpSp>
      <p:grpSp>
        <p:nvGrpSpPr>
          <p:cNvPr id="14534" name="Group 14533">
            <a:extLst>
              <a:ext uri="{FF2B5EF4-FFF2-40B4-BE49-F238E27FC236}">
                <a16:creationId xmlns:a16="http://schemas.microsoft.com/office/drawing/2014/main" id="{004D05A4-9B45-536F-71E1-A0A2A4C29A39}"/>
              </a:ext>
            </a:extLst>
          </p:cNvPr>
          <p:cNvGrpSpPr/>
          <p:nvPr/>
        </p:nvGrpSpPr>
        <p:grpSpPr>
          <a:xfrm>
            <a:off x="15438991" y="31702028"/>
            <a:ext cx="31424009" cy="646331"/>
            <a:chOff x="27458880" y="31342097"/>
            <a:chExt cx="19295991" cy="646331"/>
          </a:xfrm>
        </p:grpSpPr>
        <p:sp>
          <p:nvSpPr>
            <p:cNvPr id="14531" name="TextBox 14530">
              <a:extLst>
                <a:ext uri="{FF2B5EF4-FFF2-40B4-BE49-F238E27FC236}">
                  <a16:creationId xmlns:a16="http://schemas.microsoft.com/office/drawing/2014/main" id="{644890E4-7F4E-3C9E-F0D6-B5EA70E36CF2}"/>
                </a:ext>
              </a:extLst>
            </p:cNvPr>
            <p:cNvSpPr txBox="1"/>
            <p:nvPr/>
          </p:nvSpPr>
          <p:spPr>
            <a:xfrm>
              <a:off x="27458880" y="31342097"/>
              <a:ext cx="4732878" cy="646331"/>
            </a:xfrm>
            <a:prstGeom prst="rect">
              <a:avLst/>
            </a:prstGeom>
            <a:solidFill>
              <a:schemeClr val="bg1"/>
            </a:solidFill>
          </p:spPr>
          <p:txBody>
            <a:bodyPr wrap="square" rtlCol="0">
              <a:spAutoFit/>
            </a:bodyPr>
            <a:lstStyle/>
            <a:p>
              <a:pPr algn="ctr"/>
              <a:r>
                <a:rPr lang="en-US" sz="3600" b="1">
                  <a:solidFill>
                    <a:schemeClr val="tx2"/>
                  </a:solidFill>
                  <a:latin typeface="Arial Narrow" panose="020B0604020202020204" pitchFamily="34" charset="0"/>
                  <a:cs typeface="Arial Narrow" panose="020B0604020202020204" pitchFamily="34" charset="0"/>
                </a:rPr>
                <a:t>ACKNOWLEDGEMENTS</a:t>
              </a:r>
            </a:p>
          </p:txBody>
        </p:sp>
        <p:sp>
          <p:nvSpPr>
            <p:cNvPr id="14533" name="TextBox 14532">
              <a:extLst>
                <a:ext uri="{FF2B5EF4-FFF2-40B4-BE49-F238E27FC236}">
                  <a16:creationId xmlns:a16="http://schemas.microsoft.com/office/drawing/2014/main" id="{71E50306-290A-B73D-EF6D-AE4F73F6BDA3}"/>
                </a:ext>
              </a:extLst>
            </p:cNvPr>
            <p:cNvSpPr txBox="1"/>
            <p:nvPr/>
          </p:nvSpPr>
          <p:spPr>
            <a:xfrm>
              <a:off x="31248935" y="31480596"/>
              <a:ext cx="15505936" cy="461665"/>
            </a:xfrm>
            <a:prstGeom prst="rect">
              <a:avLst/>
            </a:prstGeom>
            <a:noFill/>
          </p:spPr>
          <p:txBody>
            <a:bodyPr wrap="square">
              <a:spAutoFit/>
            </a:bodyPr>
            <a:lstStyle/>
            <a:p>
              <a:pPr algn="just"/>
              <a:r>
                <a:rPr lang="en-US" sz="2400" dirty="0">
                  <a:latin typeface="Arial Narrow" panose="020B0604020202020204" pitchFamily="34" charset="0"/>
                  <a:cs typeface="Arial Narrow" panose="020B0604020202020204" pitchFamily="34" charset="0"/>
                  <a:sym typeface="Wingdings" pitchFamily="2" charset="2"/>
                </a:rPr>
                <a:t>The authors acknowledge and thank the Penn State University Great Valley campus, including all professors and staff for their support.</a:t>
              </a:r>
            </a:p>
          </p:txBody>
        </p:sp>
      </p:grpSp>
      <p:grpSp>
        <p:nvGrpSpPr>
          <p:cNvPr id="14365" name="Group 14364">
            <a:extLst>
              <a:ext uri="{FF2B5EF4-FFF2-40B4-BE49-F238E27FC236}">
                <a16:creationId xmlns:a16="http://schemas.microsoft.com/office/drawing/2014/main" id="{E7A80D10-8D0A-30BF-D4FF-C1DF85E38444}"/>
              </a:ext>
            </a:extLst>
          </p:cNvPr>
          <p:cNvGrpSpPr/>
          <p:nvPr/>
        </p:nvGrpSpPr>
        <p:grpSpPr>
          <a:xfrm>
            <a:off x="30756871" y="4107255"/>
            <a:ext cx="12384120" cy="9413360"/>
            <a:chOff x="30560372" y="4783352"/>
            <a:chExt cx="12638607" cy="14284379"/>
          </a:xfrm>
        </p:grpSpPr>
        <p:sp>
          <p:nvSpPr>
            <p:cNvPr id="33" name="Rounded Rectangle 32">
              <a:extLst>
                <a:ext uri="{FF2B5EF4-FFF2-40B4-BE49-F238E27FC236}">
                  <a16:creationId xmlns:a16="http://schemas.microsoft.com/office/drawing/2014/main" id="{CB57381C-0F77-D951-5BBA-9A7F8566CC84}"/>
                </a:ext>
              </a:extLst>
            </p:cNvPr>
            <p:cNvSpPr/>
            <p:nvPr/>
          </p:nvSpPr>
          <p:spPr>
            <a:xfrm>
              <a:off x="30560372" y="5133010"/>
              <a:ext cx="12638607" cy="13934721"/>
            </a:xfrm>
            <a:prstGeom prst="roundRect">
              <a:avLst>
                <a:gd name="adj" fmla="val 10098"/>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CF159EC7-F570-4693-5C80-9F682C1C7106}"/>
                </a:ext>
              </a:extLst>
            </p:cNvPr>
            <p:cNvSpPr txBox="1"/>
            <p:nvPr/>
          </p:nvSpPr>
          <p:spPr>
            <a:xfrm>
              <a:off x="33466003" y="4783352"/>
              <a:ext cx="6827345" cy="880532"/>
            </a:xfrm>
            <a:prstGeom prst="rect">
              <a:avLst/>
            </a:prstGeom>
            <a:solidFill>
              <a:schemeClr val="bg1"/>
            </a:solidFill>
          </p:spPr>
          <p:txBody>
            <a:bodyPr wrap="square" rtlCol="0">
              <a:spAutoFit/>
            </a:bodyPr>
            <a:lstStyle/>
            <a:p>
              <a:pPr algn="ctr"/>
              <a:r>
                <a:rPr lang="en-US" sz="3600" b="1" dirty="0">
                  <a:solidFill>
                    <a:schemeClr val="tx2"/>
                  </a:solidFill>
                  <a:latin typeface="Arial Narrow" panose="020B0604020202020204" pitchFamily="34" charset="0"/>
                  <a:cs typeface="Arial Narrow" panose="020B0604020202020204" pitchFamily="34" charset="0"/>
                </a:rPr>
                <a:t>EURO 2024 CASE STUDY</a:t>
              </a:r>
            </a:p>
          </p:txBody>
        </p:sp>
        <p:sp>
          <p:nvSpPr>
            <p:cNvPr id="51" name="TextBox 50">
              <a:extLst>
                <a:ext uri="{FF2B5EF4-FFF2-40B4-BE49-F238E27FC236}">
                  <a16:creationId xmlns:a16="http://schemas.microsoft.com/office/drawing/2014/main" id="{03D6C517-6937-4674-0C83-0CAF987DD68B}"/>
                </a:ext>
              </a:extLst>
            </p:cNvPr>
            <p:cNvSpPr txBox="1"/>
            <p:nvPr/>
          </p:nvSpPr>
          <p:spPr>
            <a:xfrm>
              <a:off x="30843022" y="13299805"/>
              <a:ext cx="11782622" cy="4623676"/>
            </a:xfrm>
            <a:prstGeom prst="rect">
              <a:avLst/>
            </a:prstGeom>
            <a:noFill/>
          </p:spPr>
          <p:txBody>
            <a:bodyPr wrap="square" lIns="91440" tIns="45720" rIns="91440" bIns="45720" anchor="t">
              <a:spAutoFit/>
            </a:bodyPr>
            <a:lstStyle/>
            <a:p>
              <a:pPr algn="just"/>
              <a:r>
                <a:rPr lang="en-US" sz="3200" dirty="0">
                  <a:latin typeface="Arial Narrow" panose="020B0606020202030204" pitchFamily="34" charset="0"/>
                </a:rPr>
                <a:t>The </a:t>
              </a:r>
              <a:r>
                <a:rPr lang="en-US" sz="3200" dirty="0" err="1">
                  <a:latin typeface="Arial Narrow" panose="020B0606020202030204" pitchFamily="34" charset="0"/>
                </a:rPr>
                <a:t>xPS</a:t>
              </a:r>
              <a:r>
                <a:rPr lang="en-US" sz="3200" dirty="0">
                  <a:latin typeface="Arial Narrow" panose="020B0606020202030204" pitchFamily="34" charset="0"/>
                </a:rPr>
                <a:t> metric helps identify players with low-pressing success. For the five most frequently pressed midfielders—Pedri, Rodri, Declan Rice, Toni Kroos, and Granit Xhaka—Granit Xhaka had the lowest </a:t>
              </a:r>
              <a:r>
                <a:rPr lang="en-US" sz="3200" dirty="0" err="1">
                  <a:latin typeface="Arial Narrow" panose="020B0606020202030204" pitchFamily="34" charset="0"/>
                </a:rPr>
                <a:t>xPS</a:t>
              </a:r>
              <a:r>
                <a:rPr lang="en-US" sz="3200" dirty="0">
                  <a:latin typeface="Arial Narrow" panose="020B0606020202030204" pitchFamily="34" charset="0"/>
                </a:rPr>
                <a:t>. This indicates that pressing him is less effective and unlikely to force backward passes or possession spillovers. This may explain his recent Ballon d'Or nomination and his role in Bayer Leverkusen’s invincible season. </a:t>
              </a:r>
              <a:endParaRPr lang="en-US" sz="3200" dirty="0">
                <a:latin typeface="Arial Narrow" panose="020B0606020202030204" pitchFamily="34" charset="0"/>
                <a:ea typeface="SimSun" panose="02010600030101010101" pitchFamily="2" charset="-122"/>
                <a:cs typeface="Arial" panose="020B0604020202020204" pitchFamily="34" charset="0"/>
              </a:endParaRPr>
            </a:p>
          </p:txBody>
        </p:sp>
      </p:grpSp>
      <p:grpSp>
        <p:nvGrpSpPr>
          <p:cNvPr id="14366" name="Group 14365">
            <a:extLst>
              <a:ext uri="{FF2B5EF4-FFF2-40B4-BE49-F238E27FC236}">
                <a16:creationId xmlns:a16="http://schemas.microsoft.com/office/drawing/2014/main" id="{E537EC85-2B5A-9E40-D978-8D1EA2AECB6B}"/>
              </a:ext>
            </a:extLst>
          </p:cNvPr>
          <p:cNvGrpSpPr/>
          <p:nvPr/>
        </p:nvGrpSpPr>
        <p:grpSpPr>
          <a:xfrm>
            <a:off x="30787954" y="14032748"/>
            <a:ext cx="12154753" cy="14005687"/>
            <a:chOff x="30560372" y="5043796"/>
            <a:chExt cx="12638607" cy="6516667"/>
          </a:xfrm>
        </p:grpSpPr>
        <p:sp>
          <p:nvSpPr>
            <p:cNvPr id="14367" name="Rounded Rectangle 14366">
              <a:extLst>
                <a:ext uri="{FF2B5EF4-FFF2-40B4-BE49-F238E27FC236}">
                  <a16:creationId xmlns:a16="http://schemas.microsoft.com/office/drawing/2014/main" id="{D00DD7AC-CA8D-A9B9-D70B-16BC13F2A9DD}"/>
                </a:ext>
              </a:extLst>
            </p:cNvPr>
            <p:cNvSpPr/>
            <p:nvPr/>
          </p:nvSpPr>
          <p:spPr>
            <a:xfrm>
              <a:off x="30560372" y="5133010"/>
              <a:ext cx="12638607" cy="6427453"/>
            </a:xfrm>
            <a:prstGeom prst="roundRect">
              <a:avLst>
                <a:gd name="adj" fmla="val 10098"/>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70" name="TextBox 14369">
              <a:extLst>
                <a:ext uri="{FF2B5EF4-FFF2-40B4-BE49-F238E27FC236}">
                  <a16:creationId xmlns:a16="http://schemas.microsoft.com/office/drawing/2014/main" id="{13088903-1296-1579-18CA-D8CF19409BC0}"/>
                </a:ext>
              </a:extLst>
            </p:cNvPr>
            <p:cNvSpPr txBox="1"/>
            <p:nvPr/>
          </p:nvSpPr>
          <p:spPr>
            <a:xfrm>
              <a:off x="34414969" y="5043796"/>
              <a:ext cx="5424333" cy="362943"/>
            </a:xfrm>
            <a:prstGeom prst="rect">
              <a:avLst/>
            </a:prstGeom>
            <a:solidFill>
              <a:schemeClr val="bg1"/>
            </a:solidFill>
          </p:spPr>
          <p:txBody>
            <a:bodyPr wrap="square" rtlCol="0">
              <a:spAutoFit/>
            </a:bodyPr>
            <a:lstStyle/>
            <a:p>
              <a:pPr algn="ctr"/>
              <a:r>
                <a:rPr lang="en-US" sz="3600" b="1" dirty="0">
                  <a:solidFill>
                    <a:schemeClr val="tx2"/>
                  </a:solidFill>
                  <a:latin typeface="Arial Narrow" panose="020B0604020202020204" pitchFamily="34" charset="0"/>
                  <a:cs typeface="Arial Narrow" panose="020B0604020202020204" pitchFamily="34" charset="0"/>
                </a:rPr>
                <a:t>FUTURE IMPLICATIONS</a:t>
              </a:r>
            </a:p>
          </p:txBody>
        </p:sp>
        <p:sp>
          <p:nvSpPr>
            <p:cNvPr id="14374" name="TextBox 14373">
              <a:extLst>
                <a:ext uri="{FF2B5EF4-FFF2-40B4-BE49-F238E27FC236}">
                  <a16:creationId xmlns:a16="http://schemas.microsoft.com/office/drawing/2014/main" id="{613AFF31-B0FB-88FC-3DF9-0B3637841201}"/>
                </a:ext>
              </a:extLst>
            </p:cNvPr>
            <p:cNvSpPr txBox="1"/>
            <p:nvPr/>
          </p:nvSpPr>
          <p:spPr>
            <a:xfrm>
              <a:off x="30906425" y="5414114"/>
              <a:ext cx="11906739" cy="2105106"/>
            </a:xfrm>
            <a:prstGeom prst="rect">
              <a:avLst/>
            </a:prstGeom>
            <a:noFill/>
          </p:spPr>
          <p:txBody>
            <a:bodyPr wrap="square">
              <a:spAutoFit/>
            </a:bodyPr>
            <a:lstStyle/>
            <a:p>
              <a:pPr marL="742950" indent="-742950" algn="just">
                <a:buAutoNum type="arabicPeriod"/>
              </a:pPr>
              <a:r>
                <a:rPr lang="en-US" sz="3600" b="1" i="0" dirty="0">
                  <a:effectLst/>
                  <a:latin typeface="Arial Narrow" panose="020B0606020202030204" pitchFamily="34" charset="0"/>
                </a:rPr>
                <a:t>Talent Identification:</a:t>
              </a:r>
              <a:r>
                <a:rPr lang="en-US" sz="3600" b="0" i="0" dirty="0">
                  <a:effectLst/>
                  <a:latin typeface="Arial Narrow" panose="020B0606020202030204" pitchFamily="34" charset="0"/>
                </a:rPr>
                <a:t> Spot players with essential pressing attributes and tailor training to enhance pressing skills.</a:t>
              </a:r>
            </a:p>
            <a:p>
              <a:pPr marL="742950" indent="-742950" algn="just">
                <a:buAutoNum type="arabicPeriod"/>
              </a:pPr>
              <a:r>
                <a:rPr lang="en-US" sz="3600" b="1" i="0" dirty="0">
                  <a:effectLst/>
                  <a:latin typeface="Arial Narrow" panose="020B0606020202030204" pitchFamily="34" charset="0"/>
                </a:rPr>
                <a:t>Tactical Gaps:</a:t>
              </a:r>
              <a:r>
                <a:rPr lang="en-US" sz="3600" b="0" i="0" dirty="0">
                  <a:effectLst/>
                  <a:latin typeface="Arial Narrow" panose="020B0606020202030204" pitchFamily="34" charset="0"/>
                </a:rPr>
                <a:t> Address weaknesses in pressing strategies and adjust tactics in real-time based on opponents.</a:t>
              </a:r>
            </a:p>
            <a:p>
              <a:pPr marL="742950" indent="-742950" algn="just">
                <a:buAutoNum type="arabicPeriod"/>
              </a:pPr>
              <a:r>
                <a:rPr lang="en-US" sz="3600" b="1" i="0" dirty="0">
                  <a:effectLst/>
                  <a:latin typeface="Arial Narrow" panose="020B0606020202030204" pitchFamily="34" charset="0"/>
                </a:rPr>
                <a:t>Pressing Execution:</a:t>
              </a:r>
              <a:r>
                <a:rPr lang="en-US" sz="3600" b="0" i="0" dirty="0">
                  <a:effectLst/>
                  <a:latin typeface="Arial Narrow" panose="020B0606020202030204" pitchFamily="34" charset="0"/>
                </a:rPr>
                <a:t> Optimize the timing and effectiveness of pressing by analyzing key factors like opponent positioning.</a:t>
              </a:r>
            </a:p>
            <a:p>
              <a:pPr marL="742950" indent="-742950" algn="just">
                <a:buAutoNum type="arabicPeriod"/>
              </a:pPr>
              <a:r>
                <a:rPr lang="en-US" sz="3600" b="1" i="0" dirty="0">
                  <a:effectLst/>
                  <a:latin typeface="Arial Narrow" panose="020B0606020202030204" pitchFamily="34" charset="0"/>
                </a:rPr>
                <a:t>Future-Prospects:</a:t>
              </a:r>
              <a:r>
                <a:rPr lang="en-US" sz="3600" b="0" i="0" dirty="0">
                  <a:effectLst/>
                  <a:latin typeface="Arial Narrow" panose="020B0606020202030204" pitchFamily="34" charset="0"/>
                </a:rPr>
                <a:t> Leverage advanced analytics for data-driven decisions and evolving training techniques.</a:t>
              </a:r>
              <a:endParaRPr lang="en-US" sz="3600" dirty="0">
                <a:latin typeface="Arial Narrow" panose="020B0606020202030204" pitchFamily="34" charset="0"/>
                <a:cs typeface="Arial Narrow" panose="020B0604020202020204" pitchFamily="34" charset="0"/>
                <a:sym typeface="Wingdings" pitchFamily="2" charset="2"/>
              </a:endParaRPr>
            </a:p>
          </p:txBody>
        </p:sp>
      </p:grpSp>
      <p:sp>
        <p:nvSpPr>
          <p:cNvPr id="37" name="TextBox 36">
            <a:extLst>
              <a:ext uri="{FF2B5EF4-FFF2-40B4-BE49-F238E27FC236}">
                <a16:creationId xmlns:a16="http://schemas.microsoft.com/office/drawing/2014/main" id="{895F9E54-01FA-D834-830B-87227C14926D}"/>
              </a:ext>
            </a:extLst>
          </p:cNvPr>
          <p:cNvSpPr txBox="1"/>
          <p:nvPr/>
        </p:nvSpPr>
        <p:spPr>
          <a:xfrm>
            <a:off x="1041209" y="12831234"/>
            <a:ext cx="9725727" cy="2554545"/>
          </a:xfrm>
          <a:prstGeom prst="rect">
            <a:avLst/>
          </a:prstGeom>
          <a:noFill/>
        </p:spPr>
        <p:txBody>
          <a:bodyPr wrap="square">
            <a:spAutoFit/>
          </a:bodyPr>
          <a:lstStyle/>
          <a:p>
            <a:pPr algn="just"/>
            <a:r>
              <a:rPr lang="en-US" sz="3200" b="0" i="0" u="none" strike="noStrike" dirty="0">
                <a:solidFill>
                  <a:srgbClr val="000000"/>
                </a:solidFill>
                <a:effectLst/>
                <a:latin typeface="Arial Narrow" panose="020B0606020202030204" pitchFamily="34" charset="0"/>
              </a:rPr>
              <a:t>Today, pressing has evolved into a more organized and strategic method. Modern variations, such as high block, low block, and Gegenpressing, showcase a structured approach that enables teams to reclaim possession through disciplined and well-coordinated efforts.</a:t>
            </a:r>
            <a:endParaRPr lang="en-US" sz="3200" b="1" dirty="0">
              <a:latin typeface="Arial Narrow" panose="020B0606020202030204" pitchFamily="34" charset="0"/>
              <a:cs typeface="Arial Narrow" panose="020B0604020202020204" pitchFamily="34" charset="0"/>
              <a:sym typeface="Wingdings" pitchFamily="2" charset="2"/>
            </a:endParaRPr>
          </a:p>
        </p:txBody>
      </p:sp>
      <p:grpSp>
        <p:nvGrpSpPr>
          <p:cNvPr id="38" name="Group 37">
            <a:extLst>
              <a:ext uri="{FF2B5EF4-FFF2-40B4-BE49-F238E27FC236}">
                <a16:creationId xmlns:a16="http://schemas.microsoft.com/office/drawing/2014/main" id="{BBAAD71A-6A7F-1A81-0A3C-C62CA7A2F760}"/>
              </a:ext>
            </a:extLst>
          </p:cNvPr>
          <p:cNvGrpSpPr/>
          <p:nvPr/>
        </p:nvGrpSpPr>
        <p:grpSpPr>
          <a:xfrm>
            <a:off x="11664142" y="3879692"/>
            <a:ext cx="18771744" cy="10652096"/>
            <a:chOff x="63860553" y="15071732"/>
            <a:chExt cx="18771744" cy="11665251"/>
          </a:xfrm>
        </p:grpSpPr>
        <p:sp>
          <p:nvSpPr>
            <p:cNvPr id="14361" name="Rounded Rectangle 14360">
              <a:extLst>
                <a:ext uri="{FF2B5EF4-FFF2-40B4-BE49-F238E27FC236}">
                  <a16:creationId xmlns:a16="http://schemas.microsoft.com/office/drawing/2014/main" id="{8E75322E-A028-2D4C-6D69-2A7777E0893A}"/>
                </a:ext>
              </a:extLst>
            </p:cNvPr>
            <p:cNvSpPr/>
            <p:nvPr/>
          </p:nvSpPr>
          <p:spPr>
            <a:xfrm>
              <a:off x="63860553" y="15476194"/>
              <a:ext cx="18771744" cy="11260789"/>
            </a:xfrm>
            <a:prstGeom prst="roundRect">
              <a:avLst>
                <a:gd name="adj" fmla="val 7777"/>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63" name="TextBox 14362">
              <a:extLst>
                <a:ext uri="{FF2B5EF4-FFF2-40B4-BE49-F238E27FC236}">
                  <a16:creationId xmlns:a16="http://schemas.microsoft.com/office/drawing/2014/main" id="{82505F92-F2AE-4161-A20C-B1540538536B}"/>
                </a:ext>
              </a:extLst>
            </p:cNvPr>
            <p:cNvSpPr txBox="1"/>
            <p:nvPr/>
          </p:nvSpPr>
          <p:spPr>
            <a:xfrm>
              <a:off x="68967269" y="15071732"/>
              <a:ext cx="10171101" cy="707806"/>
            </a:xfrm>
            <a:prstGeom prst="rect">
              <a:avLst/>
            </a:prstGeom>
            <a:solidFill>
              <a:schemeClr val="bg1"/>
            </a:solidFill>
          </p:spPr>
          <p:txBody>
            <a:bodyPr wrap="square" rtlCol="0">
              <a:spAutoFit/>
            </a:bodyPr>
            <a:lstStyle/>
            <a:p>
              <a:pPr algn="ctr"/>
              <a:r>
                <a:rPr lang="en-US" sz="3600" b="1" dirty="0">
                  <a:solidFill>
                    <a:schemeClr val="tx2"/>
                  </a:solidFill>
                  <a:latin typeface="Arial Narrow" panose="020B0604020202020204" pitchFamily="34" charset="0"/>
                  <a:cs typeface="Arial Narrow" panose="020B0604020202020204" pitchFamily="34" charset="0"/>
                </a:rPr>
                <a:t>USING EVENT DATA TO UNDERSTAND PRESSURE</a:t>
              </a:r>
            </a:p>
          </p:txBody>
        </p:sp>
      </p:grpSp>
      <p:sp>
        <p:nvSpPr>
          <p:cNvPr id="9" name="TextBox 8">
            <a:extLst>
              <a:ext uri="{FF2B5EF4-FFF2-40B4-BE49-F238E27FC236}">
                <a16:creationId xmlns:a16="http://schemas.microsoft.com/office/drawing/2014/main" id="{F226A3A0-ED3C-9C70-AC77-AC8C26C22DB8}"/>
              </a:ext>
            </a:extLst>
          </p:cNvPr>
          <p:cNvSpPr txBox="1"/>
          <p:nvPr/>
        </p:nvSpPr>
        <p:spPr>
          <a:xfrm>
            <a:off x="31252833" y="29689961"/>
            <a:ext cx="11591105" cy="1323439"/>
          </a:xfrm>
          <a:prstGeom prst="rect">
            <a:avLst/>
          </a:prstGeom>
          <a:noFill/>
        </p:spPr>
        <p:txBody>
          <a:bodyPr wrap="square">
            <a:spAutoFit/>
          </a:bodyPr>
          <a:lstStyle/>
          <a:p>
            <a:pPr algn="just" rtl="0"/>
            <a:r>
              <a:rPr lang="en-US" sz="4000" dirty="0">
                <a:latin typeface="Arial Narrow" panose="020B0606020202030204" pitchFamily="34" charset="0"/>
              </a:rPr>
              <a:t>References will be provided upon request to </a:t>
            </a:r>
            <a:r>
              <a:rPr lang="en-US" sz="4000" b="1" u="sng" dirty="0">
                <a:solidFill>
                  <a:srgbClr val="0000FF"/>
                </a:solidFill>
                <a:latin typeface="Arial Narrow" panose="020B0606020202030204" pitchFamily="34" charset="0"/>
              </a:rPr>
              <a:t>jrk6199@psu.edu</a:t>
            </a:r>
            <a:r>
              <a:rPr lang="en-US" sz="4000" dirty="0">
                <a:latin typeface="Arial Narrow" panose="020B0606020202030204" pitchFamily="34" charset="0"/>
              </a:rPr>
              <a:t> and </a:t>
            </a:r>
            <a:r>
              <a:rPr lang="en-US" sz="4000" b="1" u="sng" dirty="0">
                <a:solidFill>
                  <a:srgbClr val="0000FF"/>
                </a:solidFill>
                <a:latin typeface="Arial Narrow" panose="020B0606020202030204" pitchFamily="34" charset="0"/>
              </a:rPr>
              <a:t>pks5686@psu.edu</a:t>
            </a:r>
            <a:endParaRPr lang="en-US" sz="4000" b="1" u="sng" dirty="0">
              <a:solidFill>
                <a:srgbClr val="0000FF"/>
              </a:solidFill>
              <a:effectLst/>
              <a:latin typeface="Arial Narrow" panose="020B0606020202030204" pitchFamily="34" charset="0"/>
            </a:endParaRPr>
          </a:p>
        </p:txBody>
      </p:sp>
      <p:sp>
        <p:nvSpPr>
          <p:cNvPr id="10" name="TextBox 9">
            <a:extLst>
              <a:ext uri="{FF2B5EF4-FFF2-40B4-BE49-F238E27FC236}">
                <a16:creationId xmlns:a16="http://schemas.microsoft.com/office/drawing/2014/main" id="{13F6E39C-26EE-6D48-972C-FEEAAFB75AED}"/>
              </a:ext>
            </a:extLst>
          </p:cNvPr>
          <p:cNvSpPr txBox="1"/>
          <p:nvPr/>
        </p:nvSpPr>
        <p:spPr>
          <a:xfrm>
            <a:off x="11840979" y="20643957"/>
            <a:ext cx="9770212" cy="2554545"/>
          </a:xfrm>
          <a:prstGeom prst="rect">
            <a:avLst/>
          </a:prstGeom>
          <a:noFill/>
        </p:spPr>
        <p:txBody>
          <a:bodyPr wrap="square">
            <a:spAutoFit/>
          </a:bodyPr>
          <a:lstStyle/>
          <a:p>
            <a:pPr marL="457200" indent="-457200" algn="just">
              <a:buFont typeface="Arial" panose="020B0604020202020204" pitchFamily="34" charset="0"/>
              <a:buChar char="•"/>
            </a:pPr>
            <a:r>
              <a:rPr lang="en-US" sz="3200" b="0" i="0" dirty="0">
                <a:effectLst/>
                <a:latin typeface="Arial Narrow" panose="020B0606020202030204" pitchFamily="34" charset="0"/>
                <a:cs typeface="Arial" panose="020B0604020202020204" pitchFamily="34" charset="0"/>
              </a:rPr>
              <a:t>We used this model as a benchmark to create explainability and understand the different features of importance. We used a bunch of ensemble techniques to get the best modeling, and we evaluated our model based on ROC-AUC and Recall because identifying true positives is of crucial importance. </a:t>
            </a:r>
            <a:endParaRPr lang="en-IN" sz="3200" dirty="0">
              <a:latin typeface="Arial Narrow" panose="020B0606020202030204" pitchFamily="34" charset="0"/>
              <a:cs typeface="Arial" panose="020B0604020202020204" pitchFamily="34" charset="0"/>
            </a:endParaRPr>
          </a:p>
        </p:txBody>
      </p:sp>
      <p:sp>
        <p:nvSpPr>
          <p:cNvPr id="25" name="AutoShape 6" descr="How to use GPT-3.5 Turbo's API, step by step">
            <a:extLst>
              <a:ext uri="{FF2B5EF4-FFF2-40B4-BE49-F238E27FC236}">
                <a16:creationId xmlns:a16="http://schemas.microsoft.com/office/drawing/2014/main" id="{77DA3211-00A8-D757-B478-5CE8A476BFF3}"/>
              </a:ext>
            </a:extLst>
          </p:cNvPr>
          <p:cNvSpPr>
            <a:spLocks noChangeAspect="1" noChangeArrowheads="1"/>
          </p:cNvSpPr>
          <p:nvPr/>
        </p:nvSpPr>
        <p:spPr bwMode="auto">
          <a:xfrm>
            <a:off x="21793200" y="16306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2" name="Picture 8" descr="The Netherlands 1974 | Extreme High Pressure Tactic | Ft Cruijff, Rep,  Neeskens, van Hanegem">
            <a:extLst>
              <a:ext uri="{FF2B5EF4-FFF2-40B4-BE49-F238E27FC236}">
                <a16:creationId xmlns:a16="http://schemas.microsoft.com/office/drawing/2014/main" id="{1285604F-2584-A5B5-E8E1-9AE9D84A3A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2012" y="8662896"/>
            <a:ext cx="7017268" cy="394849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10" descr="StatsBomb 360 and Evolve - StatsBomb | Data Champions">
            <a:extLst>
              <a:ext uri="{FF2B5EF4-FFF2-40B4-BE49-F238E27FC236}">
                <a16:creationId xmlns:a16="http://schemas.microsoft.com/office/drawing/2014/main" id="{1F894A5B-6189-8286-E24A-7C5B50C451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92467" y="4978778"/>
            <a:ext cx="7370010" cy="485806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2" descr="Coaches' Voice | Counter-pressing and the gegenpress: football tactics  explained">
            <a:extLst>
              <a:ext uri="{FF2B5EF4-FFF2-40B4-BE49-F238E27FC236}">
                <a16:creationId xmlns:a16="http://schemas.microsoft.com/office/drawing/2014/main" id="{67683AFF-4B21-F45C-C738-5C487542D39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7561" t="13336" r="1396" b="17536"/>
          <a:stretch/>
        </p:blipFill>
        <p:spPr bwMode="auto">
          <a:xfrm>
            <a:off x="1823972" y="15465701"/>
            <a:ext cx="7317450" cy="312531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Expected Goals Model | Dev Genius">
            <a:extLst>
              <a:ext uri="{FF2B5EF4-FFF2-40B4-BE49-F238E27FC236}">
                <a16:creationId xmlns:a16="http://schemas.microsoft.com/office/drawing/2014/main" id="{010403AB-8E35-02FC-9A13-C12292C3115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1190" y="25626247"/>
            <a:ext cx="8498776" cy="505444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360 Data | The Industry's Most Detailed Soccer Data | StatsBomb">
            <a:extLst>
              <a:ext uri="{FF2B5EF4-FFF2-40B4-BE49-F238E27FC236}">
                <a16:creationId xmlns:a16="http://schemas.microsoft.com/office/drawing/2014/main" id="{684B266C-8267-1197-B44C-6B5EC572B3B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020862" y="10195712"/>
            <a:ext cx="7355509" cy="387851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graph of different colored shapes&#10;&#10;Description automatically generated with medium confidence">
            <a:extLst>
              <a:ext uri="{FF2B5EF4-FFF2-40B4-BE49-F238E27FC236}">
                <a16:creationId xmlns:a16="http://schemas.microsoft.com/office/drawing/2014/main" id="{732FD06D-6D21-B03E-1D10-C0FDDF7D195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1901391" y="5026171"/>
            <a:ext cx="10314995" cy="4371461"/>
          </a:xfrm>
          <a:prstGeom prst="rect">
            <a:avLst/>
          </a:prstGeom>
        </p:spPr>
      </p:pic>
      <p:pic>
        <p:nvPicPr>
          <p:cNvPr id="14" name="Picture 13">
            <a:extLst>
              <a:ext uri="{FF2B5EF4-FFF2-40B4-BE49-F238E27FC236}">
                <a16:creationId xmlns:a16="http://schemas.microsoft.com/office/drawing/2014/main" id="{ADDEB939-5CE4-DDC8-8F33-2144EF669DA5}"/>
              </a:ext>
            </a:extLst>
          </p:cNvPr>
          <p:cNvPicPr>
            <a:picLocks noChangeAspect="1"/>
          </p:cNvPicPr>
          <p:nvPr/>
        </p:nvPicPr>
        <p:blipFill>
          <a:blip r:embed="rId11">
            <a:extLst>
              <a:ext uri="{BEBA8EAE-BF5A-486C-A8C5-ECC9F3942E4B}">
                <a14:imgProps xmlns:a14="http://schemas.microsoft.com/office/drawing/2010/main">
                  <a14:imgLayer r:embed="rId12">
                    <a14:imgEffect>
                      <a14:sharpenSoften amount="50000"/>
                    </a14:imgEffect>
                  </a14:imgLayer>
                </a14:imgProps>
              </a:ext>
            </a:extLst>
          </a:blip>
          <a:stretch>
            <a:fillRect/>
          </a:stretch>
        </p:blipFill>
        <p:spPr>
          <a:xfrm>
            <a:off x="16494231" y="17663752"/>
            <a:ext cx="9742016" cy="1186921"/>
          </a:xfrm>
          <a:prstGeom prst="rect">
            <a:avLst/>
          </a:prstGeom>
        </p:spPr>
      </p:pic>
      <p:pic>
        <p:nvPicPr>
          <p:cNvPr id="16" name="Picture 15" descr="A pink and blue rectangle with dots&#10;&#10;Description automatically generated with medium confidence">
            <a:extLst>
              <a:ext uri="{FF2B5EF4-FFF2-40B4-BE49-F238E27FC236}">
                <a16:creationId xmlns:a16="http://schemas.microsoft.com/office/drawing/2014/main" id="{5C9EE0FC-4CF9-7518-ABFA-83FF9C16C67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2928114" y="26987570"/>
            <a:ext cx="4002293" cy="2533664"/>
          </a:xfrm>
          <a:prstGeom prst="rect">
            <a:avLst/>
          </a:prstGeom>
        </p:spPr>
      </p:pic>
      <p:pic>
        <p:nvPicPr>
          <p:cNvPr id="20" name="Picture 19">
            <a:extLst>
              <a:ext uri="{FF2B5EF4-FFF2-40B4-BE49-F238E27FC236}">
                <a16:creationId xmlns:a16="http://schemas.microsoft.com/office/drawing/2014/main" id="{850299AE-8C21-6550-D509-8FCE2B3C68DA}"/>
              </a:ext>
            </a:extLst>
          </p:cNvPr>
          <p:cNvPicPr>
            <a:picLocks noChangeAspect="1"/>
          </p:cNvPicPr>
          <p:nvPr/>
        </p:nvPicPr>
        <p:blipFill>
          <a:blip r:embed="rId14"/>
          <a:stretch>
            <a:fillRect/>
          </a:stretch>
        </p:blipFill>
        <p:spPr>
          <a:xfrm>
            <a:off x="17880112" y="25956215"/>
            <a:ext cx="11603532" cy="4724480"/>
          </a:xfrm>
          <a:prstGeom prst="rect">
            <a:avLst/>
          </a:prstGeom>
        </p:spPr>
      </p:pic>
      <p:sp>
        <p:nvSpPr>
          <p:cNvPr id="21" name="TextBox 20">
            <a:extLst>
              <a:ext uri="{FF2B5EF4-FFF2-40B4-BE49-F238E27FC236}">
                <a16:creationId xmlns:a16="http://schemas.microsoft.com/office/drawing/2014/main" id="{8FBC0748-9C86-F0A8-EB21-113D0F995894}"/>
              </a:ext>
            </a:extLst>
          </p:cNvPr>
          <p:cNvSpPr txBox="1"/>
          <p:nvPr/>
        </p:nvSpPr>
        <p:spPr>
          <a:xfrm>
            <a:off x="12149375" y="24072706"/>
            <a:ext cx="17768899" cy="2062103"/>
          </a:xfrm>
          <a:prstGeom prst="rect">
            <a:avLst/>
          </a:prstGeom>
          <a:noFill/>
        </p:spPr>
        <p:txBody>
          <a:bodyPr wrap="square" rtlCol="0">
            <a:spAutoFit/>
          </a:bodyPr>
          <a:lstStyle/>
          <a:p>
            <a:r>
              <a:rPr lang="en-US" sz="3200" dirty="0">
                <a:latin typeface="Arial Narrow" panose="020B0606020202030204" pitchFamily="34" charset="0"/>
              </a:rPr>
              <a:t>In taking a step further to better the model performance we created an event based spatio temporal approach where we used 4-5 frames of data prior to the pressing event to gather more context and information and then applying CNN for feature extraction and modelling. We got an improved ROC of 0.83 which was a significant improvement on our classic ML approach which yielded 0.702. </a:t>
            </a:r>
            <a:endParaRPr lang="en-IN" sz="3200" dirty="0">
              <a:latin typeface="Arial Narrow" panose="020B0606020202030204" pitchFamily="34" charset="0"/>
            </a:endParaRPr>
          </a:p>
        </p:txBody>
      </p:sp>
      <p:pic>
        <p:nvPicPr>
          <p:cNvPr id="23" name="Picture 22">
            <a:extLst>
              <a:ext uri="{FF2B5EF4-FFF2-40B4-BE49-F238E27FC236}">
                <a16:creationId xmlns:a16="http://schemas.microsoft.com/office/drawing/2014/main" id="{A120E6E4-BC2A-3C4B-54FC-9EA6BC70B32F}"/>
              </a:ext>
            </a:extLst>
          </p:cNvPr>
          <p:cNvPicPr>
            <a:picLocks noChangeAspect="1"/>
          </p:cNvPicPr>
          <p:nvPr/>
        </p:nvPicPr>
        <p:blipFill>
          <a:blip r:embed="rId15"/>
          <a:stretch>
            <a:fillRect/>
          </a:stretch>
        </p:blipFill>
        <p:spPr>
          <a:xfrm>
            <a:off x="21793200" y="20767347"/>
            <a:ext cx="8072152" cy="2241523"/>
          </a:xfrm>
          <a:prstGeom prst="rect">
            <a:avLst/>
          </a:prstGeom>
        </p:spPr>
      </p:pic>
      <p:sp>
        <p:nvSpPr>
          <p:cNvPr id="27" name="TextBox 26">
            <a:extLst>
              <a:ext uri="{FF2B5EF4-FFF2-40B4-BE49-F238E27FC236}">
                <a16:creationId xmlns:a16="http://schemas.microsoft.com/office/drawing/2014/main" id="{B6185FD9-6C20-04F8-E00E-FF0830E9FB56}"/>
              </a:ext>
            </a:extLst>
          </p:cNvPr>
          <p:cNvSpPr txBox="1"/>
          <p:nvPr/>
        </p:nvSpPr>
        <p:spPr>
          <a:xfrm>
            <a:off x="11970783" y="4869466"/>
            <a:ext cx="10578165" cy="5016758"/>
          </a:xfrm>
          <a:prstGeom prst="rect">
            <a:avLst/>
          </a:prstGeom>
          <a:noFill/>
        </p:spPr>
        <p:txBody>
          <a:bodyPr wrap="square" rtlCol="0">
            <a:spAutoFit/>
          </a:bodyPr>
          <a:lstStyle/>
          <a:p>
            <a:r>
              <a:rPr lang="en-US" sz="3200" dirty="0">
                <a:latin typeface="Arial Narrow" panose="020B0606020202030204" pitchFamily="34" charset="0"/>
              </a:rPr>
              <a:t>Our model utilizes event and 360 data from </a:t>
            </a:r>
            <a:r>
              <a:rPr lang="en-US" sz="3200" dirty="0" err="1">
                <a:latin typeface="Arial Narrow" panose="020B0606020202030204" pitchFamily="34" charset="0"/>
              </a:rPr>
              <a:t>StatsBomb</a:t>
            </a:r>
            <a:r>
              <a:rPr lang="en-US" sz="3200" dirty="0">
                <a:latin typeface="Arial Narrow" panose="020B0606020202030204" pitchFamily="34" charset="0"/>
              </a:rPr>
              <a:t> to analyze pressing success, adhering to top data standards. We trained on both open data and Euro 2024 datasets and conducted an in-depth case study focused on pressure situations. We tracked these situations using the ‘</a:t>
            </a:r>
            <a:r>
              <a:rPr lang="en-US" sz="3200" dirty="0" err="1">
                <a:latin typeface="Arial Narrow" panose="020B0606020202030204" pitchFamily="34" charset="0"/>
              </a:rPr>
              <a:t>under_pressure</a:t>
            </a:r>
            <a:r>
              <a:rPr lang="en-US" sz="3200" dirty="0">
                <a:latin typeface="Arial Narrow" panose="020B0606020202030204" pitchFamily="34" charset="0"/>
              </a:rPr>
              <a:t>’ field and categorized pass events as follows:</a:t>
            </a:r>
          </a:p>
          <a:p>
            <a:pPr marL="457200" indent="-457200">
              <a:buFont typeface="Arial" panose="020B0604020202020204" pitchFamily="34" charset="0"/>
              <a:buChar char="•"/>
            </a:pPr>
            <a:r>
              <a:rPr lang="en-US" sz="3200" b="1" dirty="0">
                <a:latin typeface="Arial Narrow" panose="020B0606020202030204" pitchFamily="34" charset="0"/>
              </a:rPr>
              <a:t>0: Backward passes, mistakes, or turnovers</a:t>
            </a:r>
          </a:p>
          <a:p>
            <a:pPr marL="457200" indent="-457200">
              <a:buFont typeface="Arial" panose="020B0604020202020204" pitchFamily="34" charset="0"/>
              <a:buChar char="•"/>
            </a:pPr>
            <a:r>
              <a:rPr lang="en-US" sz="3200" b="1" dirty="0">
                <a:latin typeface="Arial Narrow" panose="020B0606020202030204" pitchFamily="34" charset="0"/>
              </a:rPr>
              <a:t>1: Forward or line-breaking passes.</a:t>
            </a:r>
          </a:p>
          <a:p>
            <a:r>
              <a:rPr lang="en-US" sz="3200" dirty="0">
                <a:latin typeface="Arial Narrow" panose="020B0606020202030204" pitchFamily="34" charset="0"/>
              </a:rPr>
              <a:t>This classification enables us to gain valuable insights into pressing effectiveness and refine team strategies accordingly.</a:t>
            </a:r>
            <a:endParaRPr lang="en-IN" sz="3200" dirty="0">
              <a:latin typeface="Arial Narrow" panose="020B0606020202030204" pitchFamily="34" charset="0"/>
            </a:endParaRPr>
          </a:p>
        </p:txBody>
      </p:sp>
      <p:sp>
        <p:nvSpPr>
          <p:cNvPr id="28" name="TextBox 27">
            <a:extLst>
              <a:ext uri="{FF2B5EF4-FFF2-40B4-BE49-F238E27FC236}">
                <a16:creationId xmlns:a16="http://schemas.microsoft.com/office/drawing/2014/main" id="{077E59C2-4700-A59A-E8DD-1818684CEAFE}"/>
              </a:ext>
            </a:extLst>
          </p:cNvPr>
          <p:cNvSpPr txBox="1"/>
          <p:nvPr/>
        </p:nvSpPr>
        <p:spPr>
          <a:xfrm>
            <a:off x="19718475" y="10229667"/>
            <a:ext cx="10616136" cy="4031873"/>
          </a:xfrm>
          <a:prstGeom prst="rect">
            <a:avLst/>
          </a:prstGeom>
          <a:noFill/>
        </p:spPr>
        <p:txBody>
          <a:bodyPr wrap="square" rtlCol="0">
            <a:spAutoFit/>
          </a:bodyPr>
          <a:lstStyle/>
          <a:p>
            <a:r>
              <a:rPr lang="en-US" sz="3200" dirty="0">
                <a:latin typeface="Arial Narrow" panose="020B0606020202030204" pitchFamily="34" charset="0"/>
              </a:rPr>
              <a:t>Incorporating 360 event data provides a holistic view of the field, encompassing not just the ball carrier but also teammates and opponents within the camera’s perspective. This data features precise X and Y coordinates for 8-12 players, allowing us to analyze player positioning, movement patterns, and spatial relationships. By capturing these dynamics, we can better understand how player positioning affects pressing strategies, offering deeper insights into tactical effectiveness and spatial awareness during matches.</a:t>
            </a:r>
            <a:endParaRPr lang="en-IN" sz="3200" dirty="0">
              <a:latin typeface="Arial Narrow" panose="020B0606020202030204" pitchFamily="34" charset="0"/>
            </a:endParaRPr>
          </a:p>
        </p:txBody>
      </p:sp>
      <p:pic>
        <p:nvPicPr>
          <p:cNvPr id="35" name="Picture 34" descr="A graph with colored dots&#10;&#10;Description automatically generated">
            <a:extLst>
              <a:ext uri="{FF2B5EF4-FFF2-40B4-BE49-F238E27FC236}">
                <a16:creationId xmlns:a16="http://schemas.microsoft.com/office/drawing/2014/main" id="{80C843B2-4859-36AD-6FD8-292A59618464}"/>
              </a:ext>
            </a:extLst>
          </p:cNvPr>
          <p:cNvPicPr>
            <a:picLocks noChangeAspect="1"/>
          </p:cNvPicPr>
          <p:nvPr/>
        </p:nvPicPr>
        <p:blipFill>
          <a:blip r:embed="rId16">
            <a:extLst>
              <a:ext uri="{28A0092B-C50C-407E-A947-70E740481C1C}">
                <a14:useLocalDpi xmlns:a14="http://schemas.microsoft.com/office/drawing/2010/main" val="0"/>
              </a:ext>
            </a:extLst>
          </a:blip>
          <a:srcRect l="1938"/>
          <a:stretch/>
        </p:blipFill>
        <p:spPr>
          <a:xfrm>
            <a:off x="31252833" y="19326798"/>
            <a:ext cx="11307998" cy="8258204"/>
          </a:xfrm>
          <a:prstGeom prst="rect">
            <a:avLst/>
          </a:prstGeom>
        </p:spPr>
      </p:pic>
      <p:pic>
        <p:nvPicPr>
          <p:cNvPr id="1028" name="Picture 4" descr="StatsBomb Podcast: June 23rd, PL and Championship Resume - StatsBomb | Data  Champions">
            <a:extLst>
              <a:ext uri="{FF2B5EF4-FFF2-40B4-BE49-F238E27FC236}">
                <a16:creationId xmlns:a16="http://schemas.microsoft.com/office/drawing/2014/main" id="{2E5CBA4C-5A8C-35F1-4889-874D09402E57}"/>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l="11731" t="36703" r="10931" b="36513"/>
          <a:stretch/>
        </p:blipFill>
        <p:spPr bwMode="auto">
          <a:xfrm>
            <a:off x="36203972" y="1081677"/>
            <a:ext cx="7230028" cy="1408484"/>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31A58D9BB6204CBC6A85A5620098C7" ma:contentTypeVersion="14" ma:contentTypeDescription="Create a new document." ma:contentTypeScope="" ma:versionID="bf922aaee918d5932bf7a4b43043a070">
  <xsd:schema xmlns:xsd="http://www.w3.org/2001/XMLSchema" xmlns:xs="http://www.w3.org/2001/XMLSchema" xmlns:p="http://schemas.microsoft.com/office/2006/metadata/properties" xmlns:ns3="d19a0b45-c3c9-4ac0-acfc-dbe5e4afa1e1" xmlns:ns4="3d56c712-5e2e-42b9-a9b2-af6803650572" targetNamespace="http://schemas.microsoft.com/office/2006/metadata/properties" ma:root="true" ma:fieldsID="115ead58644df614d2023bf177f139bf" ns3:_="" ns4:_="">
    <xsd:import namespace="d19a0b45-c3c9-4ac0-acfc-dbe5e4afa1e1"/>
    <xsd:import namespace="3d56c712-5e2e-42b9-a9b2-af6803650572"/>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ystemTags" minOccurs="0"/>
                <xsd:element ref="ns3:MediaServiceOCR" minOccurs="0"/>
                <xsd:element ref="ns3:MediaServiceGenerationTime" minOccurs="0"/>
                <xsd:element ref="ns3:MediaServiceEventHashCode" minOccurs="0"/>
                <xsd:element ref="ns3:MediaServiceSearchProperties"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9a0b45-c3c9-4ac0-acfc-dbe5e4afa1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d56c712-5e2e-42b9-a9b2-af680365057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19a0b45-c3c9-4ac0-acfc-dbe5e4afa1e1" xsi:nil="true"/>
  </documentManagement>
</p:properties>
</file>

<file path=customXml/itemProps1.xml><?xml version="1.0" encoding="utf-8"?>
<ds:datastoreItem xmlns:ds="http://schemas.openxmlformats.org/officeDocument/2006/customXml" ds:itemID="{499068A4-F96F-4821-B47F-D0ABC307B5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9a0b45-c3c9-4ac0-acfc-dbe5e4afa1e1"/>
    <ds:schemaRef ds:uri="3d56c712-5e2e-42b9-a9b2-af68036505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94BE713-CD9F-47FB-84EE-AAD3AFE0EF5F}">
  <ds:schemaRefs>
    <ds:schemaRef ds:uri="http://schemas.microsoft.com/sharepoint/v3/contenttype/forms"/>
  </ds:schemaRefs>
</ds:datastoreItem>
</file>

<file path=customXml/itemProps3.xml><?xml version="1.0" encoding="utf-8"?>
<ds:datastoreItem xmlns:ds="http://schemas.openxmlformats.org/officeDocument/2006/customXml" ds:itemID="{D3E33507-ED7F-4503-94F1-1781CBB08F25}">
  <ds:schemaRefs>
    <ds:schemaRef ds:uri="http://purl.org/dc/dcmitype/"/>
    <ds:schemaRef ds:uri="http://schemas.microsoft.com/office/2006/metadata/properties"/>
    <ds:schemaRef ds:uri="http://schemas.microsoft.com/office/infopath/2007/PartnerControls"/>
    <ds:schemaRef ds:uri="http://purl.org/dc/terms/"/>
    <ds:schemaRef ds:uri="http://schemas.microsoft.com/office/2006/documentManagement/types"/>
    <ds:schemaRef ds:uri="d19a0b45-c3c9-4ac0-acfc-dbe5e4afa1e1"/>
    <ds:schemaRef ds:uri="http://purl.org/dc/elements/1.1/"/>
    <ds:schemaRef ds:uri="http://www.w3.org/XML/1998/namespace"/>
    <ds:schemaRef ds:uri="http://schemas.openxmlformats.org/package/2006/metadata/core-properties"/>
    <ds:schemaRef ds:uri="3d56c712-5e2e-42b9-a9b2-af6803650572"/>
  </ds:schemaRefs>
</ds:datastoreItem>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emplate/>
  <TotalTime>1696</TotalTime>
  <Words>807</Words>
  <Application>Microsoft Office PowerPoint</Application>
  <PresentationFormat>Custom</PresentationFormat>
  <Paragraphs>37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Arial Narrow</vt:lpstr>
      <vt:lpstr>Calibri</vt:lpstr>
      <vt:lpstr>Office Theme</vt:lpstr>
      <vt:lpstr>PowerPoint Presentation</vt:lpstr>
    </vt:vector>
  </TitlesOfParts>
  <Company>University of Washington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Dr. Eric S. Ackerman</dc:creator>
  <cp:lastModifiedBy>SUNKAVALLI, PRANEETH</cp:lastModifiedBy>
  <cp:revision>10</cp:revision>
  <dcterms:created xsi:type="dcterms:W3CDTF">2014-10-11T18:25:32Z</dcterms:created>
  <dcterms:modified xsi:type="dcterms:W3CDTF">2024-10-01T17:24:32Z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0x0101008331A58D9BB6204CBC6A85A5620098C7</vt:lpwstr>
  </property>
</Properties>
</file>